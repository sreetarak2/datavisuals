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10" r:id="rId2"/>
    <p:sldId id="258" r:id="rId3"/>
    <p:sldId id="311" r:id="rId4"/>
    <p:sldId id="312" r:id="rId5"/>
    <p:sldId id="330" r:id="rId6"/>
    <p:sldId id="314" r:id="rId7"/>
    <p:sldId id="315" r:id="rId8"/>
    <p:sldId id="317" r:id="rId9"/>
    <p:sldId id="316"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Untitled Section" id="{83ABAA44-4396-47F1-BF52-5CC2C5F79C83}">
          <p14:sldIdLst>
            <p14:sldId id="310"/>
            <p14:sldId id="258"/>
            <p14:sldId id="311"/>
            <p14:sldId id="312"/>
            <p14:sldId id="330"/>
            <p14:sldId id="314"/>
            <p14:sldId id="315"/>
            <p14:sldId id="317"/>
            <p14:sldId id="316"/>
            <p14:sldId id="318"/>
            <p14:sldId id="319"/>
            <p14:sldId id="320"/>
            <p14:sldId id="321"/>
            <p14:sldId id="322"/>
            <p14:sldId id="323"/>
            <p14:sldId id="324"/>
            <p14:sldId id="325"/>
            <p14:sldId id="326"/>
            <p14:sldId id="327"/>
            <p14:sldId id="328"/>
            <p14:sldId id="32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372" autoAdjust="0"/>
  </p:normalViewPr>
  <p:slideViewPr>
    <p:cSldViewPr snapToGrid="0">
      <p:cViewPr varScale="1">
        <p:scale>
          <a:sx n="83" d="100"/>
          <a:sy n="83" d="100"/>
        </p:scale>
        <p:origin x="686" y="62"/>
      </p:cViewPr>
      <p:guideLst>
        <p:guide orient="horz" pos="2160"/>
        <p:guide pos="3840"/>
      </p:guideLst>
    </p:cSldViewPr>
  </p:slid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2141CB8B-9A0B-4789-AA16-21FD85562D02}" type="datetimeFigureOut">
              <a:rPr lang="en-US"/>
              <a:pPr>
                <a:defRPr/>
              </a:pPr>
              <a:t>8/18/2025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36D7AF74-2339-4E63-B715-1FF6BBDB8B4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DAAD0836-F5EF-429E-9CA7-34269BB16BEB}" type="datetimeFigureOut">
              <a:rPr lang="en-US"/>
              <a:pPr>
                <a:defRPr/>
              </a:pPr>
              <a:t>8/18/2025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D347E34-9B8B-4DC4-B3D1-5FF64A7D9D47}" type="slidenum">
              <a:rPr lang="en-US"/>
              <a:pPr>
                <a:defRPr/>
              </a:pPr>
              <a:t>‹#›</a:t>
            </a:fld>
            <a:endParaRPr lang="en-US"/>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E7A05AD-15BE-4008-AEEA-D7FA977D7B1C}" type="datetimeFigureOut">
              <a:rPr lang="en-US"/>
              <a:pPr>
                <a:defRPr/>
              </a:pPr>
              <a:t>8/18/2025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E853FA3-E8C3-4724-8AB2-FBD186A14C05}" type="slidenum">
              <a:rPr lang="en-US"/>
              <a:pPr>
                <a:defRPr/>
              </a:pPr>
              <a:t>‹#›</a:t>
            </a:fld>
            <a:endParaRPr lang="en-US"/>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22CBAA4-0496-414B-9D0B-352D161D6770}" type="datetimeFigureOut">
              <a:rPr lang="en-US"/>
              <a:pPr>
                <a:defRPr/>
              </a:pPr>
              <a:t>8/18/2025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0E27EC3-5FC3-4FBD-AF27-193773D8B8FB}" type="slidenum">
              <a:rPr lang="en-US"/>
              <a:pPr>
                <a:defRPr/>
              </a:pPr>
              <a:t>‹#›</a:t>
            </a:fld>
            <a:endParaRPr lang="en-US"/>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41CC38C6-54BB-4FFC-AFC6-5A36932E5598}" type="datetimeFigureOut">
              <a:rPr lang="en-US"/>
              <a:pPr>
                <a:defRPr/>
              </a:pPr>
              <a:t>8/18/2025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2F60336-55D7-4D83-864A-65378EAC896D}" type="slidenum">
              <a:rPr lang="en-US"/>
              <a:pPr>
                <a:defRPr/>
              </a:pPr>
              <a:t>‹#›</a:t>
            </a:fld>
            <a:endParaRPr lang="en-US"/>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0DC640A-516A-43F9-B66D-F58070D9E57B}" type="datetimeFigureOut">
              <a:rPr lang="en-US"/>
              <a:pPr>
                <a:defRPr/>
              </a:pPr>
              <a:t>8/18/2025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C0FDFCC-FA33-4AA3-A85A-47B0596F2B19}" type="slidenum">
              <a:rPr lang="en-US"/>
              <a:pPr>
                <a:defRPr/>
              </a:pPr>
              <a:t>‹#›</a:t>
            </a:fld>
            <a:endParaRPr lang="en-US"/>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CA73D87-571A-4825-B460-5BD534548857}" type="datetimeFigureOut">
              <a:rPr lang="en-US"/>
              <a:pPr>
                <a:defRPr/>
              </a:pPr>
              <a:t>8/18/2025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1A25E56-6828-4F81-A4E1-3F118DCD55DA}" type="slidenum">
              <a:rPr lang="en-US"/>
              <a:pPr>
                <a:defRPr/>
              </a:pPr>
              <a:t>‹#›</a:t>
            </a:fld>
            <a:endParaRPr lang="en-US"/>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FE5BEA6-927D-4820-A050-6663FCF1AC65}" type="datetimeFigureOut">
              <a:rPr lang="en-US"/>
              <a:pPr>
                <a:defRPr/>
              </a:pPr>
              <a:t>8/18/2025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1924FD7-78B4-40D7-8788-C7D56B831392}" type="slidenum">
              <a:rPr lang="en-US"/>
              <a:pPr>
                <a:defRPr/>
              </a:pPr>
              <a:t>‹#›</a:t>
            </a:fld>
            <a:endParaRPr lang="en-US"/>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66E4105-9996-4E9D-B342-4BB880A181A6}" type="datetimeFigureOut">
              <a:rPr lang="en-US"/>
              <a:pPr>
                <a:defRPr/>
              </a:pPr>
              <a:t>8/18/2025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8915FB1-BA12-4819-BA78-4E2819A9F043}" type="slidenum">
              <a:rPr lang="en-US"/>
              <a:pPr>
                <a:defRPr/>
              </a:pPr>
              <a:t>‹#›</a:t>
            </a:fld>
            <a:endParaRPr lang="en-US"/>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A104DB3-9FA0-431C-ABDD-AD6E0FFCBAFA}" type="datetimeFigureOut">
              <a:rPr lang="en-US"/>
              <a:pPr>
                <a:defRPr/>
              </a:pPr>
              <a:t>8/18/2025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F3C046C-5611-407F-9948-C525BFEF0380}" type="slidenum">
              <a:rPr lang="en-US"/>
              <a:pPr>
                <a:defRPr/>
              </a:pPr>
              <a:t>‹#›</a:t>
            </a:fld>
            <a:endParaRPr lang="en-US"/>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AB9C6B6-C766-42C4-91B2-15C37033139C}" type="datetimeFigureOut">
              <a:rPr lang="en-US"/>
              <a:pPr>
                <a:defRPr/>
              </a:pPr>
              <a:t>8/18/2025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9F1864F-690D-4EE0-9C72-E7A489F9B0D6}" type="slidenum">
              <a:rPr lang="en-US"/>
              <a:pPr>
                <a:defRPr/>
              </a:pPr>
              <a:t>‹#›</a:t>
            </a:fld>
            <a:endParaRPr lang="en-US"/>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248ACD1-E50E-476C-9D7A-857AA16FDB9A}" type="datetimeFigureOut">
              <a:rPr lang="en-US"/>
              <a:pPr>
                <a:defRPr/>
              </a:pPr>
              <a:t>8/18/2025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FD0037F-446A-439D-B171-32C2E9A8128F}" type="slidenum">
              <a:rPr lang="en-US"/>
              <a:pPr>
                <a:defRPr/>
              </a:pPr>
              <a:t>‹#›</a:t>
            </a:fld>
            <a:endParaRPr lang="en-US"/>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1958D706-2828-42C5-9973-E99CCB06544E}" type="datetimeFigureOut">
              <a:rPr lang="en-US"/>
              <a:pPr>
                <a:defRPr/>
              </a:pPr>
              <a:t>8/18/2025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E8F822DE-7756-4CD5-B6F8-E6FB306897D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csedeo2\Desktop\Cerficate 2.jpg"/>
          <p:cNvPicPr>
            <a:picLocks noChangeAspect="1" noChangeArrowheads="1"/>
          </p:cNvPicPr>
          <p:nvPr/>
        </p:nvPicPr>
        <p:blipFill>
          <a:blip r:embed="rId2"/>
          <a:srcRect/>
          <a:stretch>
            <a:fillRect/>
          </a:stretch>
        </p:blipFill>
        <p:spPr bwMode="auto">
          <a:xfrm>
            <a:off x="-144463" y="37233"/>
            <a:ext cx="12480926" cy="6838950"/>
          </a:xfrm>
          <a:prstGeom prst="rect">
            <a:avLst/>
          </a:prstGeom>
          <a:noFill/>
          <a:ln w="9525">
            <a:noFill/>
            <a:miter lim="800000"/>
            <a:headEnd/>
            <a:tailEnd/>
          </a:ln>
        </p:spPr>
      </p:pic>
      <p:sp>
        <p:nvSpPr>
          <p:cNvPr id="7" name="Rounded Rectangle 6"/>
          <p:cNvSpPr/>
          <p:nvPr/>
        </p:nvSpPr>
        <p:spPr>
          <a:xfrm>
            <a:off x="965201" y="2898879"/>
            <a:ext cx="10160000" cy="990600"/>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fontAlgn="auto">
              <a:lnSpc>
                <a:spcPct val="150000"/>
              </a:lnSpc>
              <a:spcBef>
                <a:spcPts val="0"/>
              </a:spcBef>
              <a:spcAft>
                <a:spcPts val="0"/>
              </a:spcAft>
              <a:defRPr/>
            </a:pPr>
            <a:r>
              <a:rPr lang="en-US" b="1" dirty="0"/>
              <a:t>Batch No: AA10</a:t>
            </a:r>
          </a:p>
          <a:p>
            <a:pPr fontAlgn="auto">
              <a:lnSpc>
                <a:spcPct val="150000"/>
              </a:lnSpc>
              <a:spcBef>
                <a:spcPts val="0"/>
              </a:spcBef>
              <a:spcAft>
                <a:spcPts val="0"/>
              </a:spcAft>
              <a:defRPr/>
            </a:pPr>
            <a:r>
              <a:rPr lang="en-US" b="1" dirty="0"/>
              <a:t>Project Title: </a:t>
            </a:r>
            <a:r>
              <a:rPr lang="en-US" b="1" dirty="0" err="1"/>
              <a:t>DataSage</a:t>
            </a:r>
            <a:r>
              <a:rPr lang="en-US" b="1" dirty="0"/>
              <a:t> AI: AI for Deep Data Insights &amp; Exploration</a:t>
            </a:r>
            <a:endParaRPr lang="en-IN" b="1" dirty="0"/>
          </a:p>
        </p:txBody>
      </p:sp>
      <p:graphicFrame>
        <p:nvGraphicFramePr>
          <p:cNvPr id="13" name="Table 12"/>
          <p:cNvGraphicFramePr>
            <a:graphicFrameLocks noGrp="1"/>
          </p:cNvGraphicFramePr>
          <p:nvPr>
            <p:extLst>
              <p:ext uri="{D42A27DB-BD31-4B8C-83A1-F6EECF244321}">
                <p14:modId xmlns:p14="http://schemas.microsoft.com/office/powerpoint/2010/main" val="3421744319"/>
              </p:ext>
            </p:extLst>
          </p:nvPr>
        </p:nvGraphicFramePr>
        <p:xfrm>
          <a:off x="965201" y="3990109"/>
          <a:ext cx="6604000" cy="2456873"/>
        </p:xfrm>
        <a:graphic>
          <a:graphicData uri="http://schemas.openxmlformats.org/drawingml/2006/table">
            <a:tbl>
              <a:tblPr firstRow="1" bandRow="1">
                <a:tableStyleId>{08FB837D-C827-4EFA-A057-4D05807E0F7C}</a:tableStyleId>
              </a:tblPr>
              <a:tblGrid>
                <a:gridCol w="974360">
                  <a:extLst>
                    <a:ext uri="{9D8B030D-6E8A-4147-A177-3AD203B41FA5}">
                      <a16:colId xmlns:a16="http://schemas.microsoft.com/office/drawing/2014/main" val="20000"/>
                    </a:ext>
                  </a:extLst>
                </a:gridCol>
                <a:gridCol w="2175240">
                  <a:extLst>
                    <a:ext uri="{9D8B030D-6E8A-4147-A177-3AD203B41FA5}">
                      <a16:colId xmlns:a16="http://schemas.microsoft.com/office/drawing/2014/main" val="20001"/>
                    </a:ext>
                  </a:extLst>
                </a:gridCol>
                <a:gridCol w="3454400">
                  <a:extLst>
                    <a:ext uri="{9D8B030D-6E8A-4147-A177-3AD203B41FA5}">
                      <a16:colId xmlns:a16="http://schemas.microsoft.com/office/drawing/2014/main" val="20002"/>
                    </a:ext>
                  </a:extLst>
                </a:gridCol>
              </a:tblGrid>
              <a:tr h="442345">
                <a:tc>
                  <a:txBody>
                    <a:bodyPr/>
                    <a:lstStyle/>
                    <a:p>
                      <a:pPr algn="ctr"/>
                      <a:r>
                        <a:rPr lang="en-US" sz="1400" dirty="0" err="1">
                          <a:solidFill>
                            <a:schemeClr val="tx1">
                              <a:lumMod val="95000"/>
                              <a:lumOff val="5000"/>
                            </a:schemeClr>
                          </a:solidFill>
                        </a:rPr>
                        <a:t>S.No</a:t>
                      </a:r>
                      <a:endParaRPr lang="en-US" sz="1400" i="0" dirty="0">
                        <a:solidFill>
                          <a:schemeClr val="tx1">
                            <a:lumMod val="95000"/>
                            <a:lumOff val="5000"/>
                          </a:schemeClr>
                        </a:solidFill>
                      </a:endParaRPr>
                    </a:p>
                  </a:txBody>
                  <a:tcPr marL="121920" marR="121920">
                    <a:solidFill>
                      <a:srgbClr val="00B0F0"/>
                    </a:solidFill>
                  </a:tcPr>
                </a:tc>
                <a:tc>
                  <a:txBody>
                    <a:bodyPr/>
                    <a:lstStyle/>
                    <a:p>
                      <a:pPr algn="ctr"/>
                      <a:r>
                        <a:rPr lang="en-US" sz="1400" dirty="0">
                          <a:solidFill>
                            <a:schemeClr val="tx1">
                              <a:lumMod val="95000"/>
                              <a:lumOff val="5000"/>
                            </a:schemeClr>
                          </a:solidFill>
                        </a:rPr>
                        <a:t>Reg.No</a:t>
                      </a:r>
                      <a:endParaRPr lang="en-US" sz="1400" i="0" dirty="0">
                        <a:solidFill>
                          <a:schemeClr val="tx1">
                            <a:lumMod val="95000"/>
                            <a:lumOff val="5000"/>
                          </a:schemeClr>
                        </a:solidFill>
                      </a:endParaRPr>
                    </a:p>
                  </a:txBody>
                  <a:tcPr marL="121920" marR="121920">
                    <a:solidFill>
                      <a:srgbClr val="00B0F0"/>
                    </a:solidFill>
                  </a:tcPr>
                </a:tc>
                <a:tc>
                  <a:txBody>
                    <a:bodyPr/>
                    <a:lstStyle/>
                    <a:p>
                      <a:pPr algn="ctr"/>
                      <a:r>
                        <a:rPr lang="en-US" sz="1400" dirty="0">
                          <a:solidFill>
                            <a:schemeClr val="tx1">
                              <a:lumMod val="95000"/>
                              <a:lumOff val="5000"/>
                            </a:schemeClr>
                          </a:solidFill>
                        </a:rPr>
                        <a:t>Student </a:t>
                      </a:r>
                      <a:r>
                        <a:rPr lang="en-US" sz="1400" baseline="0" dirty="0">
                          <a:solidFill>
                            <a:schemeClr val="tx1">
                              <a:lumMod val="95000"/>
                              <a:lumOff val="5000"/>
                            </a:schemeClr>
                          </a:solidFill>
                        </a:rPr>
                        <a:t> Name</a:t>
                      </a:r>
                      <a:endParaRPr lang="en-US" sz="1400" i="0" dirty="0">
                        <a:solidFill>
                          <a:schemeClr val="tx1">
                            <a:lumMod val="95000"/>
                            <a:lumOff val="5000"/>
                          </a:schemeClr>
                        </a:solidFill>
                      </a:endParaRPr>
                    </a:p>
                  </a:txBody>
                  <a:tcPr marL="121920" marR="121920">
                    <a:solidFill>
                      <a:srgbClr val="00B0F0"/>
                    </a:solidFill>
                  </a:tcPr>
                </a:tc>
                <a:extLst>
                  <a:ext uri="{0D108BD9-81ED-4DB2-BD59-A6C34878D82A}">
                    <a16:rowId xmlns:a16="http://schemas.microsoft.com/office/drawing/2014/main" val="10000"/>
                  </a:ext>
                </a:extLst>
              </a:tr>
              <a:tr h="358684">
                <a:tc>
                  <a:txBody>
                    <a:bodyPr/>
                    <a:lstStyle/>
                    <a:p>
                      <a:pPr algn="ctr"/>
                      <a:r>
                        <a:rPr lang="en-IN" sz="1400" dirty="0"/>
                        <a:t>1</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dirty="0"/>
                        <a:t>22A81A6122</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l"/>
                      <a:r>
                        <a:rPr lang="fi-FI" sz="1400" dirty="0"/>
                        <a:t>JAKKANI SREE TARAKA VAMSI KRISHNA</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1"/>
                  </a:ext>
                </a:extLst>
              </a:tr>
              <a:tr h="358684">
                <a:tc>
                  <a:txBody>
                    <a:bodyPr/>
                    <a:lstStyle/>
                    <a:p>
                      <a:pPr algn="ctr"/>
                      <a:r>
                        <a:rPr lang="en-IN" sz="1400" dirty="0"/>
                        <a:t>2</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IN" sz="1400" dirty="0"/>
                        <a:t>22A81A6160</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l"/>
                      <a:r>
                        <a:rPr lang="en-IN" sz="1400" dirty="0"/>
                        <a:t>TIRUVEEDULA L.N.V.S.M.L.DHEERAJ</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2"/>
                  </a:ext>
                </a:extLst>
              </a:tr>
              <a:tr h="324290">
                <a:tc>
                  <a:txBody>
                    <a:bodyPr/>
                    <a:lstStyle/>
                    <a:p>
                      <a:pPr algn="ctr"/>
                      <a:r>
                        <a:rPr lang="en-IN" sz="1400" dirty="0"/>
                        <a:t>3</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IN" sz="1400" dirty="0"/>
                        <a:t>22A81A6115</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l"/>
                      <a:r>
                        <a:rPr lang="en-IN" sz="1400" dirty="0"/>
                        <a:t>DAGULURI RAJU</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3"/>
                  </a:ext>
                </a:extLst>
              </a:tr>
              <a:tr h="324290">
                <a:tc>
                  <a:txBody>
                    <a:bodyPr/>
                    <a:lstStyle/>
                    <a:p>
                      <a:pPr algn="ctr"/>
                      <a:r>
                        <a:rPr lang="en-IN" sz="1400" dirty="0"/>
                        <a:t>4</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IN" sz="1400" dirty="0"/>
                        <a:t>22A81A6116</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l"/>
                      <a:r>
                        <a:rPr lang="en-IN" sz="1400" dirty="0"/>
                        <a:t>DAMISETTI PRAGATHI LAKSHMI DEVI</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4"/>
                  </a:ext>
                </a:extLst>
              </a:tr>
              <a:tr h="324290">
                <a:tc>
                  <a:txBody>
                    <a:bodyPr/>
                    <a:lstStyle/>
                    <a:p>
                      <a:pPr algn="ctr"/>
                      <a:r>
                        <a:rPr lang="en-US" sz="1400" dirty="0"/>
                        <a:t>5</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IN" sz="1400" dirty="0"/>
                        <a:t>22A81A6144</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l"/>
                      <a:r>
                        <a:rPr lang="en-IN" sz="1400" dirty="0"/>
                        <a:t>NARAGANA KRISHNA SRI CHAITANYA</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10005"/>
                  </a:ext>
                </a:extLst>
              </a:tr>
              <a:tr h="324290">
                <a:tc>
                  <a:txBody>
                    <a:bodyPr/>
                    <a:lstStyle/>
                    <a:p>
                      <a:pPr algn="ctr"/>
                      <a:r>
                        <a:rPr lang="en-US" sz="1400" dirty="0"/>
                        <a:t>6</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ctr"/>
                      <a:r>
                        <a:rPr lang="en-US" sz="1400" dirty="0"/>
                        <a:t>22A81A6127</a:t>
                      </a:r>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tc>
                  <a:txBody>
                    <a:bodyPr/>
                    <a:lstStyle/>
                    <a:p>
                      <a:pPr algn="l"/>
                      <a:r>
                        <a:rPr lang="en-IN" sz="1400" dirty="0"/>
                        <a:t>KALAVAKANTI BHAVYA NAGA SRI</a:t>
                      </a:r>
                      <a:endParaRPr lang="en-US" sz="1400"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tcPr>
                </a:tc>
                <a:extLst>
                  <a:ext uri="{0D108BD9-81ED-4DB2-BD59-A6C34878D82A}">
                    <a16:rowId xmlns:a16="http://schemas.microsoft.com/office/drawing/2014/main" val="271285750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511476537"/>
              </p:ext>
            </p:extLst>
          </p:nvPr>
        </p:nvGraphicFramePr>
        <p:xfrm>
          <a:off x="7924800" y="5029200"/>
          <a:ext cx="3149600" cy="741680"/>
        </p:xfrm>
        <a:graphic>
          <a:graphicData uri="http://schemas.openxmlformats.org/drawingml/2006/table">
            <a:tbl>
              <a:tblPr firstRow="1" bandRow="1">
                <a:tableStyleId>{08FB837D-C827-4EFA-A057-4D05807E0F7C}</a:tableStyleId>
              </a:tblPr>
              <a:tblGrid>
                <a:gridCol w="3149600">
                  <a:extLst>
                    <a:ext uri="{9D8B030D-6E8A-4147-A177-3AD203B41FA5}">
                      <a16:colId xmlns:a16="http://schemas.microsoft.com/office/drawing/2014/main" val="20000"/>
                    </a:ext>
                  </a:extLst>
                </a:gridCol>
              </a:tblGrid>
              <a:tr h="370840">
                <a:tc>
                  <a:txBody>
                    <a:bodyPr/>
                    <a:lstStyle/>
                    <a:p>
                      <a:pPr algn="ctr"/>
                      <a:r>
                        <a:rPr lang="en-US" sz="1600" dirty="0">
                          <a:solidFill>
                            <a:schemeClr val="tx1">
                              <a:lumMod val="95000"/>
                              <a:lumOff val="5000"/>
                            </a:schemeClr>
                          </a:solidFill>
                        </a:rPr>
                        <a:t>Project Guide</a:t>
                      </a:r>
                    </a:p>
                  </a:txBody>
                  <a:tcPr marL="121920" marR="121920">
                    <a:solidFill>
                      <a:srgbClr val="00B0F0"/>
                    </a:solidFill>
                  </a:tcPr>
                </a:tc>
                <a:extLst>
                  <a:ext uri="{0D108BD9-81ED-4DB2-BD59-A6C34878D82A}">
                    <a16:rowId xmlns:a16="http://schemas.microsoft.com/office/drawing/2014/main" val="10000"/>
                  </a:ext>
                </a:extLst>
              </a:tr>
              <a:tr h="370840">
                <a:tc>
                  <a:txBody>
                    <a:bodyPr/>
                    <a:lstStyle/>
                    <a:p>
                      <a:pPr algn="ctr"/>
                      <a:r>
                        <a:rPr lang="en-IN" dirty="0"/>
                        <a:t>Ms. Jane Rose</a:t>
                      </a:r>
                      <a:endParaRPr lang="en-US" dirty="0"/>
                    </a:p>
                  </a:txBody>
                  <a:tcPr marL="121920" marR="121920">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t="100000" r="100000"/>
                      </a:path>
                      <a:tileRect l="-100000" b="-100000"/>
                    </a:gradFill>
                  </a:tcPr>
                </a:tc>
                <a:extLst>
                  <a:ext uri="{0D108BD9-81ED-4DB2-BD59-A6C34878D82A}">
                    <a16:rowId xmlns:a16="http://schemas.microsoft.com/office/drawing/2014/main" val="10001"/>
                  </a:ext>
                </a:extLst>
              </a:tr>
            </a:tbl>
          </a:graphicData>
        </a:graphic>
      </p:graphicFrame>
      <p:sp>
        <p:nvSpPr>
          <p:cNvPr id="2054" name="Rectangle 15"/>
          <p:cNvSpPr>
            <a:spLocks noChangeArrowheads="1"/>
          </p:cNvSpPr>
          <p:nvPr/>
        </p:nvSpPr>
        <p:spPr bwMode="auto">
          <a:xfrm>
            <a:off x="4102100" y="2209800"/>
            <a:ext cx="5956300" cy="461963"/>
          </a:xfrm>
          <a:prstGeom prst="rect">
            <a:avLst/>
          </a:prstGeom>
          <a:noFill/>
          <a:ln w="9525">
            <a:noFill/>
            <a:miter lim="800000"/>
            <a:headEnd/>
            <a:tailEnd/>
          </a:ln>
        </p:spPr>
        <p:txBody>
          <a:bodyPr>
            <a:spAutoFit/>
          </a:bodyPr>
          <a:lstStyle/>
          <a:p>
            <a:r>
              <a:rPr lang="en-US" sz="2400" b="1" dirty="0">
                <a:solidFill>
                  <a:srgbClr val="0070C0"/>
                </a:solidFill>
                <a:latin typeface="Calisto MT" pitchFamily="18" charset="0"/>
              </a:rPr>
              <a:t>               Major Project Review-I</a:t>
            </a:r>
            <a:endParaRPr lang="en-US" sz="2400" dirty="0">
              <a:latin typeface="Calibri" pitchFamily="34" charset="0"/>
            </a:endParaRPr>
          </a:p>
        </p:txBody>
      </p:sp>
      <p:sp>
        <p:nvSpPr>
          <p:cNvPr id="8" name="Rectangle 7"/>
          <p:cNvSpPr/>
          <p:nvPr/>
        </p:nvSpPr>
        <p:spPr>
          <a:xfrm>
            <a:off x="10882859" y="614597"/>
            <a:ext cx="1309141" cy="86942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9"/>
          <p:cNvPicPr>
            <a:picLocks noChangeAspect="1" noChangeArrowheads="1"/>
          </p:cNvPicPr>
          <p:nvPr/>
        </p:nvPicPr>
        <p:blipFill>
          <a:blip r:embed="rId3"/>
          <a:srcRect/>
          <a:stretch>
            <a:fillRect/>
          </a:stretch>
        </p:blipFill>
        <p:spPr bwMode="auto">
          <a:xfrm>
            <a:off x="2107424" y="1695450"/>
            <a:ext cx="8715474" cy="508104"/>
          </a:xfrm>
          <a:prstGeom prst="rect">
            <a:avLst/>
          </a:prstGeom>
          <a:noFill/>
          <a:ln w="9525">
            <a:noFill/>
            <a:miter lim="800000"/>
            <a:headEnd/>
            <a:tailEnd/>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p:cNvSpPr>
            <a:spLocks noGrp="1" noRot="1" noChangeAspect="1" noMove="1" noResize="1" noEditPoints="1" noAdjustHandles="1" noChangeArrowheads="1" noChangeShapeType="1" noTextEdit="1"/>
          </p:cNvSpPr>
          <p:nvPr/>
        </p:nvSpPr>
        <p:spPr>
          <a:xfrm>
            <a:off x="0" y="0"/>
            <a:ext cx="130302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885825" y="122238"/>
            <a:ext cx="10745788" cy="628650"/>
          </a:xfrm>
        </p:spPr>
        <p:txBody>
          <a:bodyPr rtlCol="0" anchor="t">
            <a:normAutofit fontScale="90000"/>
          </a:bodyPr>
          <a:lstStyle/>
          <a:p>
            <a:pPr eaLnBrk="1" fontAlgn="auto" hangingPunct="1">
              <a:spcAft>
                <a:spcPts val="0"/>
              </a:spcAft>
              <a:defRPr/>
            </a:pPr>
            <a: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Major Project Review I - Contents</a:t>
            </a:r>
            <a:br>
              <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6770" y="669472"/>
            <a:ext cx="12456659" cy="5281623"/>
          </a:xfrm>
        </p:spPr>
        <p:txBody>
          <a:bodyPr rtlCol="0">
            <a:normAutofit/>
          </a:bodyPr>
          <a:lstStyle/>
          <a:p>
            <a:pPr eaLnBrk="1" fontAlgn="auto" hangingPunct="1">
              <a:spcAft>
                <a:spcPts val="0"/>
              </a:spcAft>
              <a:buFont typeface="Arial" panose="020B0604020202020204" pitchFamily="34" charset="0"/>
              <a:buChar char="•"/>
              <a:defRPr/>
            </a:pPr>
            <a:endParaRPr lang="en-IN" sz="2000" dirty="0">
              <a:solidFill>
                <a:schemeClr val="tx1">
                  <a:alpha val="60000"/>
                </a:schemeClr>
              </a:solidFill>
              <a:latin typeface="Times New Roman" panose="02020603050405020304" pitchFamily="18" charset="0"/>
              <a:cs typeface="Times New Roman" panose="02020603050405020304" pitchFamily="18" charset="0"/>
            </a:endParaRPr>
          </a:p>
          <a:p>
            <a:pPr lvl="1" eaLnBrk="1" fontAlgn="auto" hangingPunct="1">
              <a:spcAft>
                <a:spcPts val="0"/>
              </a:spcAft>
              <a:buFont typeface="Arial" panose="020B0604020202020204" pitchFamily="34" charset="0"/>
              <a:buChar char="•"/>
              <a:defRPr/>
            </a:pPr>
            <a:r>
              <a:rPr lang="en-IN" sz="2000" b="1" dirty="0">
                <a:latin typeface="Times New Roman" panose="02020603050405020304" pitchFamily="18" charset="0"/>
                <a:cs typeface="Times New Roman" panose="02020603050405020304" pitchFamily="18" charset="0"/>
              </a:rPr>
              <a:t>Abstract</a:t>
            </a:r>
          </a:p>
          <a:p>
            <a:pPr lvl="1" eaLnBrk="1" fontAlgn="auto" hangingPunct="1">
              <a:spcAft>
                <a:spcPts val="0"/>
              </a:spcAft>
              <a:buFont typeface="Arial" panose="020B0604020202020204" pitchFamily="34" charset="0"/>
              <a:buChar char="•"/>
              <a:defRPr/>
            </a:pPr>
            <a:r>
              <a:rPr lang="en-IN" sz="2000" b="1" dirty="0">
                <a:latin typeface="Times New Roman" panose="02020603050405020304" pitchFamily="18" charset="0"/>
                <a:cs typeface="Times New Roman" panose="02020603050405020304" pitchFamily="18" charset="0"/>
              </a:rPr>
              <a:t>Introduction</a:t>
            </a:r>
          </a:p>
          <a:p>
            <a:pPr lvl="1" eaLnBrk="1" fontAlgn="auto" hangingPunct="1">
              <a:spcAft>
                <a:spcPts val="0"/>
              </a:spcAft>
              <a:buFont typeface="Arial" panose="020B0604020202020204" pitchFamily="34" charset="0"/>
              <a:buChar char="•"/>
              <a:defRPr/>
            </a:pPr>
            <a:r>
              <a:rPr lang="en-IN" sz="2000" b="1" dirty="0">
                <a:latin typeface="Times New Roman" panose="02020603050405020304" pitchFamily="18" charset="0"/>
                <a:cs typeface="Times New Roman" panose="02020603050405020304" pitchFamily="18" charset="0"/>
              </a:rPr>
              <a:t>Literature Survey</a:t>
            </a:r>
          </a:p>
          <a:p>
            <a:pPr lvl="1" eaLnBrk="1" fontAlgn="auto" hangingPunct="1">
              <a:spcAft>
                <a:spcPts val="0"/>
              </a:spcAft>
              <a:buFont typeface="Arial" panose="020B0604020202020204" pitchFamily="34" charset="0"/>
              <a:buChar char="•"/>
              <a:defRPr/>
            </a:pPr>
            <a:r>
              <a:rPr lang="en-IN" sz="2000" b="1" dirty="0">
                <a:latin typeface="Times New Roman" panose="02020603050405020304" pitchFamily="18" charset="0"/>
                <a:cs typeface="Times New Roman" panose="02020603050405020304" pitchFamily="18" charset="0"/>
              </a:rPr>
              <a:t>Problem Statement in Existing System</a:t>
            </a:r>
          </a:p>
          <a:p>
            <a:pPr lvl="1" eaLnBrk="1" fontAlgn="auto" hangingPunct="1">
              <a:spcAft>
                <a:spcPts val="0"/>
              </a:spcAft>
              <a:buFont typeface="Arial" panose="020B0604020202020204" pitchFamily="34" charset="0"/>
              <a:buChar char="•"/>
              <a:defRPr/>
            </a:pPr>
            <a:r>
              <a:rPr lang="en-IN" sz="2000" b="1" dirty="0">
                <a:latin typeface="Times New Roman" panose="02020603050405020304" pitchFamily="18" charset="0"/>
                <a:cs typeface="Times New Roman" panose="02020603050405020304" pitchFamily="18" charset="0"/>
              </a:rPr>
              <a:t>Proposed System</a:t>
            </a:r>
          </a:p>
          <a:p>
            <a:pPr lvl="1" eaLnBrk="1" fontAlgn="auto" hangingPunct="1">
              <a:spcAft>
                <a:spcPts val="0"/>
              </a:spcAft>
              <a:buFont typeface="Arial" panose="020B0604020202020204" pitchFamily="34" charset="0"/>
              <a:buChar char="•"/>
              <a:defRPr/>
            </a:pPr>
            <a:r>
              <a:rPr lang="en-IN" sz="2000" b="1" dirty="0">
                <a:latin typeface="Times New Roman" panose="02020603050405020304" pitchFamily="18" charset="0"/>
                <a:cs typeface="Times New Roman" panose="02020603050405020304" pitchFamily="18" charset="0"/>
              </a:rPr>
              <a:t> Objectives </a:t>
            </a:r>
          </a:p>
          <a:p>
            <a:pPr lvl="1" eaLnBrk="1" hangingPunct="1">
              <a:spcBef>
                <a:spcPts val="480"/>
              </a:spcBef>
              <a:buSzPts val="2400"/>
              <a:defRPr/>
            </a:pPr>
            <a:r>
              <a:rPr lang="en-US" sz="2000" b="1" dirty="0">
                <a:latin typeface="Times New Roman" panose="02020603050405020304" pitchFamily="18" charset="0"/>
                <a:cs typeface="Times New Roman" panose="02020603050405020304" pitchFamily="18" charset="0"/>
              </a:rPr>
              <a:t>Project domain </a:t>
            </a:r>
          </a:p>
          <a:p>
            <a:pPr marL="800100" lvl="1" indent="-342900" eaLnBrk="1" hangingPunct="1">
              <a:spcBef>
                <a:spcPts val="480"/>
              </a:spcBef>
              <a:spcAft>
                <a:spcPts val="0"/>
              </a:spcAft>
              <a:buClr>
                <a:schemeClr val="lt1"/>
              </a:buClr>
              <a:buSzPts val="2400"/>
              <a:buFont typeface="Arial" pitchFamily="34" charset="0"/>
              <a:buChar char="•"/>
              <a:defRPr/>
            </a:pPr>
            <a:r>
              <a:rPr lang="en-US" sz="2000" b="1" dirty="0">
                <a:latin typeface="Times New Roman" panose="02020603050405020304" pitchFamily="18" charset="0"/>
                <a:cs typeface="Times New Roman" panose="02020603050405020304" pitchFamily="18" charset="0"/>
              </a:rPr>
              <a:t>Requirement analysis</a:t>
            </a:r>
          </a:p>
          <a:p>
            <a:pPr marL="1257300" lvl="2" indent="-342900" eaLnBrk="1" hangingPunct="1">
              <a:spcBef>
                <a:spcPts val="480"/>
              </a:spcBef>
              <a:spcAft>
                <a:spcPts val="0"/>
              </a:spcAft>
              <a:buClr>
                <a:schemeClr val="lt1"/>
              </a:buClr>
              <a:buSzPts val="2400"/>
              <a:buFont typeface="Arial" pitchFamily="34" charset="0"/>
              <a:buChar char="•"/>
              <a:defRPr/>
            </a:pPr>
            <a:r>
              <a:rPr lang="en-US" b="1" dirty="0">
                <a:latin typeface="Times New Roman" panose="02020603050405020304" pitchFamily="18" charset="0"/>
                <a:cs typeface="Times New Roman" panose="02020603050405020304" pitchFamily="18" charset="0"/>
              </a:rPr>
              <a:t>- Functional Requirements</a:t>
            </a:r>
          </a:p>
          <a:p>
            <a:pPr marL="1257300" lvl="2" indent="-342900" eaLnBrk="1" hangingPunct="1">
              <a:spcBef>
                <a:spcPts val="480"/>
              </a:spcBef>
              <a:spcAft>
                <a:spcPts val="0"/>
              </a:spcAft>
              <a:buClr>
                <a:schemeClr val="lt1"/>
              </a:buClr>
              <a:buSzPts val="2400"/>
              <a:buFont typeface="Arial" pitchFamily="34" charset="0"/>
              <a:buChar char="•"/>
              <a:defRPr/>
            </a:pPr>
            <a:r>
              <a:rPr lang="en-US" b="1" dirty="0">
                <a:latin typeface="Times New Roman" panose="02020603050405020304" pitchFamily="18" charset="0"/>
                <a:cs typeface="Times New Roman" panose="02020603050405020304" pitchFamily="18" charset="0"/>
              </a:rPr>
              <a:t>- Non-Functional Requirements</a:t>
            </a:r>
          </a:p>
          <a:p>
            <a:pPr marL="1257300" lvl="2" indent="-342900" eaLnBrk="1" hangingPunct="1">
              <a:spcBef>
                <a:spcPts val="480"/>
              </a:spcBef>
              <a:spcAft>
                <a:spcPts val="0"/>
              </a:spcAft>
              <a:buClr>
                <a:schemeClr val="lt1"/>
              </a:buClr>
              <a:buSzPts val="2400"/>
              <a:buFont typeface="Arial" pitchFamily="34" charset="0"/>
              <a:buChar char="•"/>
              <a:defRPr/>
            </a:pPr>
            <a:r>
              <a:rPr lang="en-US" b="1" dirty="0">
                <a:latin typeface="Times New Roman" panose="02020603050405020304" pitchFamily="18" charset="0"/>
                <a:cs typeface="Times New Roman" panose="02020603050405020304" pitchFamily="18" charset="0"/>
              </a:rPr>
              <a:t>- Software Requirements</a:t>
            </a:r>
          </a:p>
          <a:p>
            <a:pPr marL="1257300" lvl="2" indent="-342900" eaLnBrk="1" hangingPunct="1">
              <a:spcBef>
                <a:spcPts val="480"/>
              </a:spcBef>
              <a:spcAft>
                <a:spcPts val="0"/>
              </a:spcAft>
              <a:buClr>
                <a:schemeClr val="lt1"/>
              </a:buClr>
              <a:buSzPts val="2400"/>
              <a:buFont typeface="Arial" pitchFamily="34" charset="0"/>
              <a:buChar char="•"/>
              <a:defRPr/>
            </a:pPr>
            <a:r>
              <a:rPr lang="en-US" b="1" dirty="0">
                <a:latin typeface="Times New Roman" panose="02020603050405020304" pitchFamily="18" charset="0"/>
                <a:cs typeface="Times New Roman" panose="02020603050405020304" pitchFamily="18" charset="0"/>
              </a:rPr>
              <a:t>- Hardware Requirements</a:t>
            </a:r>
          </a:p>
          <a:p>
            <a:pPr lvl="1" eaLnBrk="1" hangingPunct="1">
              <a:defRPr/>
            </a:pPr>
            <a:r>
              <a:rPr lang="en-US" sz="2000" b="1" dirty="0">
                <a:latin typeface="Times New Roman" panose="02020603050405020304" pitchFamily="18" charset="0"/>
                <a:cs typeface="Times New Roman" panose="02020603050405020304" pitchFamily="18" charset="0"/>
              </a:rPr>
              <a:t>System Architecture</a:t>
            </a:r>
          </a:p>
          <a:p>
            <a:pPr lvl="1" eaLnBrk="1" hangingPunct="1">
              <a:defRPr/>
            </a:pPr>
            <a:r>
              <a:rPr lang="en-US" sz="2000" b="1" dirty="0">
                <a:latin typeface="Times New Roman" panose="02020603050405020304" pitchFamily="18" charset="0"/>
                <a:cs typeface="Times New Roman" panose="02020603050405020304" pitchFamily="18" charset="0"/>
              </a:rPr>
              <a:t>Methodology</a:t>
            </a:r>
          </a:p>
          <a:p>
            <a:pPr eaLnBrk="1" fontAlgn="auto" hangingPunct="1">
              <a:spcAft>
                <a:spcPts val="0"/>
              </a:spcAft>
              <a:buFont typeface="Arial" charset="0"/>
              <a:buNone/>
              <a:defRPr/>
            </a:pPr>
            <a:endParaRPr lang="en-IN" sz="2000" dirty="0">
              <a:solidFill>
                <a:schemeClr val="tx1">
                  <a:alpha val="60000"/>
                </a:schemeClr>
              </a:solidFill>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69704-F631-37AE-CF31-CD7549CB2289}"/>
              </a:ext>
            </a:extLst>
          </p:cNvPr>
          <p:cNvSpPr>
            <a:spLocks noGrp="1"/>
          </p:cNvSpPr>
          <p:nvPr>
            <p:ph type="title"/>
          </p:nvPr>
        </p:nvSpPr>
        <p:spPr/>
        <p:txBody>
          <a:bodyPr/>
          <a:lstStyle/>
          <a:p>
            <a:pPr algn="just"/>
            <a:r>
              <a:rPr lang="en-IN" sz="6000" b="1" dirty="0"/>
              <a:t>Abstract</a:t>
            </a:r>
          </a:p>
        </p:txBody>
      </p:sp>
      <p:sp>
        <p:nvSpPr>
          <p:cNvPr id="3" name="Content Placeholder 2">
            <a:extLst>
              <a:ext uri="{FF2B5EF4-FFF2-40B4-BE49-F238E27FC236}">
                <a16:creationId xmlns:a16="http://schemas.microsoft.com/office/drawing/2014/main" id="{4BDA021F-2795-72C3-1D52-04A87FA4AFA1}"/>
              </a:ext>
            </a:extLst>
          </p:cNvPr>
          <p:cNvSpPr>
            <a:spLocks noGrp="1"/>
          </p:cNvSpPr>
          <p:nvPr>
            <p:ph idx="1"/>
          </p:nvPr>
        </p:nvSpPr>
        <p:spPr/>
        <p:txBody>
          <a:bodyPr/>
          <a:lstStyle/>
          <a:p>
            <a:pPr algn="just"/>
            <a:r>
              <a:rPr lang="en-US" sz="2400" b="1" dirty="0" err="1"/>
              <a:t>DataSage</a:t>
            </a:r>
            <a:r>
              <a:rPr lang="en-US" sz="2400" b="1" dirty="0"/>
              <a:t> AI </a:t>
            </a:r>
            <a:r>
              <a:rPr lang="en-US" sz="2400" dirty="0"/>
              <a:t>is a local, adaptive, and explainable assistant that transforms raw tabular data (CSV/Excel) into actionable insights—</a:t>
            </a:r>
            <a:r>
              <a:rPr lang="en-US" sz="2400" b="1" dirty="0"/>
              <a:t>without cloud dependencies or machine learning models</a:t>
            </a:r>
            <a:r>
              <a:rPr lang="en-US" sz="2400" dirty="0"/>
              <a:t>. Designed for non-technical users in privacy-sensitive domains (e.g., healthcare, education, small businesses), the tool leverages </a:t>
            </a:r>
            <a:r>
              <a:rPr lang="en-US" sz="2400" b="1" dirty="0"/>
              <a:t>Python, </a:t>
            </a:r>
            <a:r>
              <a:rPr lang="en-US" sz="2400" b="1" dirty="0" err="1"/>
              <a:t>FastAPI</a:t>
            </a:r>
            <a:r>
              <a:rPr lang="en-US" sz="2400" b="1" dirty="0"/>
              <a:t>, Pandas, and </a:t>
            </a:r>
            <a:r>
              <a:rPr lang="en-US" sz="2400" b="1" dirty="0" err="1"/>
              <a:t>Plotly</a:t>
            </a:r>
            <a:r>
              <a:rPr lang="en-US" sz="2400" dirty="0"/>
              <a:t> to generate interactive visualizations, statistical summaries, and anomaly detection reports entirely offline. Its </a:t>
            </a:r>
            <a:r>
              <a:rPr lang="en-US" sz="2400" b="1" dirty="0"/>
              <a:t>natural-language Q&amp;A</a:t>
            </a:r>
            <a:r>
              <a:rPr lang="en-US" sz="2400" dirty="0"/>
              <a:t> (powered by local LLMs like </a:t>
            </a:r>
            <a:r>
              <a:rPr lang="en-US" sz="2400" dirty="0" err="1"/>
              <a:t>LLaMA</a:t>
            </a:r>
            <a:r>
              <a:rPr lang="en-US" sz="2400" dirty="0"/>
              <a:t> 3 via </a:t>
            </a:r>
            <a:r>
              <a:rPr lang="en-US" sz="2400" dirty="0" err="1"/>
              <a:t>Ollama</a:t>
            </a:r>
            <a:r>
              <a:rPr lang="en-US" sz="2400" dirty="0"/>
              <a:t>) enables users to ask questions like </a:t>
            </a:r>
            <a:r>
              <a:rPr lang="en-US" sz="2400" i="1" dirty="0"/>
              <a:t>“Why did sales drop in June?”</a:t>
            </a:r>
            <a:r>
              <a:rPr lang="en-US" sz="2400" dirty="0"/>
              <a:t> and receive plain-English, data-driven answers. By prioritizing </a:t>
            </a:r>
            <a:r>
              <a:rPr lang="en-US" sz="2400" b="1" dirty="0"/>
              <a:t>privacy</a:t>
            </a:r>
            <a:r>
              <a:rPr lang="en-US" sz="2400" dirty="0"/>
              <a:t>, </a:t>
            </a:r>
            <a:r>
              <a:rPr lang="en-US" sz="2400" b="1" dirty="0"/>
              <a:t>transparency</a:t>
            </a:r>
            <a:r>
              <a:rPr lang="en-US" sz="2400" dirty="0"/>
              <a:t>, and </a:t>
            </a:r>
            <a:r>
              <a:rPr lang="en-US" sz="2400" b="1" dirty="0"/>
              <a:t>adaptability to periodic data updates</a:t>
            </a:r>
            <a:r>
              <a:rPr lang="en-US" sz="2400" dirty="0"/>
              <a:t>, </a:t>
            </a:r>
            <a:r>
              <a:rPr lang="en-US" sz="2400" dirty="0" err="1"/>
              <a:t>DataSage</a:t>
            </a:r>
            <a:r>
              <a:rPr lang="en-US" sz="2400" dirty="0"/>
              <a:t> AI bridges the gap between raw datasets and decision-making for domain experts.</a:t>
            </a:r>
            <a:endParaRPr lang="en-IN" sz="2400" dirty="0"/>
          </a:p>
        </p:txBody>
      </p:sp>
    </p:spTree>
    <p:extLst>
      <p:ext uri="{BB962C8B-B14F-4D97-AF65-F5344CB8AC3E}">
        <p14:creationId xmlns:p14="http://schemas.microsoft.com/office/powerpoint/2010/main" val="854371883"/>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7AEC4-F629-3A82-AB5D-27A9E878E7CE}"/>
              </a:ext>
            </a:extLst>
          </p:cNvPr>
          <p:cNvSpPr>
            <a:spLocks noGrp="1"/>
          </p:cNvSpPr>
          <p:nvPr>
            <p:ph type="title"/>
          </p:nvPr>
        </p:nvSpPr>
        <p:spPr>
          <a:xfrm>
            <a:off x="838200" y="374361"/>
            <a:ext cx="10515600" cy="1325563"/>
          </a:xfrm>
        </p:spPr>
        <p:txBody>
          <a:bodyPr/>
          <a:lstStyle/>
          <a:p>
            <a:pPr algn="just"/>
            <a:r>
              <a:rPr lang="en-IN" sz="5000" b="1" dirty="0"/>
              <a:t>Introduction</a:t>
            </a:r>
          </a:p>
        </p:txBody>
      </p:sp>
      <p:sp>
        <p:nvSpPr>
          <p:cNvPr id="3" name="Content Placeholder 2">
            <a:extLst>
              <a:ext uri="{FF2B5EF4-FFF2-40B4-BE49-F238E27FC236}">
                <a16:creationId xmlns:a16="http://schemas.microsoft.com/office/drawing/2014/main" id="{ACC17903-312D-4E99-E28E-C072058410EE}"/>
              </a:ext>
            </a:extLst>
          </p:cNvPr>
          <p:cNvSpPr>
            <a:spLocks noGrp="1"/>
          </p:cNvSpPr>
          <p:nvPr>
            <p:ph idx="1"/>
          </p:nvPr>
        </p:nvSpPr>
        <p:spPr>
          <a:xfrm>
            <a:off x="838200" y="1834861"/>
            <a:ext cx="10515600" cy="4351338"/>
          </a:xfrm>
        </p:spPr>
        <p:txBody>
          <a:bodyPr/>
          <a:lstStyle/>
          <a:p>
            <a:pPr algn="just">
              <a:lnSpc>
                <a:spcPct val="100000"/>
              </a:lnSpc>
            </a:pPr>
            <a:r>
              <a:rPr lang="en-US" sz="2400" dirty="0"/>
              <a:t>In many industries, structured datasets are underutilized due to the complexity of extracting actionable insights without advanced technical skills or costly cloud-based tools. Privacy concerns, internet dependency, and the need for explainable results make traditional analytics platforms unsuitable for sensitive environments. </a:t>
            </a:r>
            <a:r>
              <a:rPr lang="en-US" sz="2400" dirty="0" err="1"/>
              <a:t>DataSage</a:t>
            </a:r>
            <a:r>
              <a:rPr lang="en-US" sz="2400" dirty="0"/>
              <a:t> AI addresses these challenges by providing an </a:t>
            </a:r>
            <a:r>
              <a:rPr lang="en-US" sz="2400" b="1" dirty="0"/>
              <a:t>offline-first, user-friendly, and adaptive</a:t>
            </a:r>
            <a:r>
              <a:rPr lang="en-US" sz="2400" dirty="0"/>
              <a:t> solution that transforms tabular data into clear, interactive insights. It bridges the gap between raw data and informed decision-making, empowering users—regardless of technical expertise—to explore patterns, detect anomalies, and ask natural-language questions with transparent, explainable answers.</a:t>
            </a:r>
            <a:endParaRPr lang="en-IN" sz="2400" dirty="0"/>
          </a:p>
        </p:txBody>
      </p:sp>
    </p:spTree>
    <p:extLst>
      <p:ext uri="{BB962C8B-B14F-4D97-AF65-F5344CB8AC3E}">
        <p14:creationId xmlns:p14="http://schemas.microsoft.com/office/powerpoint/2010/main" val="2068909948"/>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F5A2A-86B3-D1CA-1DA0-234437669F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725035-8DAB-518A-150F-C719A51C523F}"/>
              </a:ext>
            </a:extLst>
          </p:cNvPr>
          <p:cNvSpPr>
            <a:spLocks noGrp="1"/>
          </p:cNvSpPr>
          <p:nvPr>
            <p:ph type="title"/>
          </p:nvPr>
        </p:nvSpPr>
        <p:spPr>
          <a:xfrm>
            <a:off x="838200" y="374361"/>
            <a:ext cx="10515600" cy="1325563"/>
          </a:xfrm>
        </p:spPr>
        <p:txBody>
          <a:bodyPr/>
          <a:lstStyle/>
          <a:p>
            <a:pPr algn="just"/>
            <a:r>
              <a:rPr lang="en-IN" sz="5000" b="1" dirty="0"/>
              <a:t>Literature Survey</a:t>
            </a:r>
          </a:p>
        </p:txBody>
      </p:sp>
      <p:graphicFrame>
        <p:nvGraphicFramePr>
          <p:cNvPr id="3" name="Content Placeholder 2">
            <a:extLst>
              <a:ext uri="{FF2B5EF4-FFF2-40B4-BE49-F238E27FC236}">
                <a16:creationId xmlns:a16="http://schemas.microsoft.com/office/drawing/2014/main" id="{CFA72088-31C7-0643-D1CE-A6FE57BC59E5}"/>
              </a:ext>
            </a:extLst>
          </p:cNvPr>
          <p:cNvGraphicFramePr>
            <a:graphicFrameLocks noGrp="1"/>
          </p:cNvGraphicFramePr>
          <p:nvPr>
            <p:ph idx="1"/>
            <p:extLst>
              <p:ext uri="{D42A27DB-BD31-4B8C-83A1-F6EECF244321}">
                <p14:modId xmlns:p14="http://schemas.microsoft.com/office/powerpoint/2010/main" val="3394026172"/>
              </p:ext>
            </p:extLst>
          </p:nvPr>
        </p:nvGraphicFramePr>
        <p:xfrm>
          <a:off x="858982" y="1613190"/>
          <a:ext cx="10494818" cy="5060685"/>
        </p:xfrm>
        <a:graphic>
          <a:graphicData uri="http://schemas.openxmlformats.org/drawingml/2006/table">
            <a:tbl>
              <a:tblPr firstRow="1" bandRow="1">
                <a:tableStyleId>{F5AB1C69-6EDB-4FF4-983F-18BD219EF322}</a:tableStyleId>
              </a:tblPr>
              <a:tblGrid>
                <a:gridCol w="655782">
                  <a:extLst>
                    <a:ext uri="{9D8B030D-6E8A-4147-A177-3AD203B41FA5}">
                      <a16:colId xmlns:a16="http://schemas.microsoft.com/office/drawing/2014/main" val="654214208"/>
                    </a:ext>
                  </a:extLst>
                </a:gridCol>
                <a:gridCol w="2828636">
                  <a:extLst>
                    <a:ext uri="{9D8B030D-6E8A-4147-A177-3AD203B41FA5}">
                      <a16:colId xmlns:a16="http://schemas.microsoft.com/office/drawing/2014/main" val="797600518"/>
                    </a:ext>
                  </a:extLst>
                </a:gridCol>
                <a:gridCol w="1752600">
                  <a:extLst>
                    <a:ext uri="{9D8B030D-6E8A-4147-A177-3AD203B41FA5}">
                      <a16:colId xmlns:a16="http://schemas.microsoft.com/office/drawing/2014/main" val="907506963"/>
                    </a:ext>
                  </a:extLst>
                </a:gridCol>
                <a:gridCol w="1752600">
                  <a:extLst>
                    <a:ext uri="{9D8B030D-6E8A-4147-A177-3AD203B41FA5}">
                      <a16:colId xmlns:a16="http://schemas.microsoft.com/office/drawing/2014/main" val="3752518601"/>
                    </a:ext>
                  </a:extLst>
                </a:gridCol>
                <a:gridCol w="1752600">
                  <a:extLst>
                    <a:ext uri="{9D8B030D-6E8A-4147-A177-3AD203B41FA5}">
                      <a16:colId xmlns:a16="http://schemas.microsoft.com/office/drawing/2014/main" val="1150523803"/>
                    </a:ext>
                  </a:extLst>
                </a:gridCol>
                <a:gridCol w="1752600">
                  <a:extLst>
                    <a:ext uri="{9D8B030D-6E8A-4147-A177-3AD203B41FA5}">
                      <a16:colId xmlns:a16="http://schemas.microsoft.com/office/drawing/2014/main" val="3023549769"/>
                    </a:ext>
                  </a:extLst>
                </a:gridCol>
              </a:tblGrid>
              <a:tr h="345545">
                <a:tc>
                  <a:txBody>
                    <a:bodyPr/>
                    <a:lstStyle/>
                    <a:p>
                      <a:pPr algn="ctr">
                        <a:buNone/>
                      </a:pPr>
                      <a:r>
                        <a:rPr lang="en-IN" sz="1200" b="1" dirty="0" err="1">
                          <a:solidFill>
                            <a:schemeClr val="tx1"/>
                          </a:solidFill>
                        </a:rPr>
                        <a:t>S.No</a:t>
                      </a:r>
                      <a:endParaRPr lang="en-IN"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IN" sz="1200" b="1" dirty="0">
                          <a:solidFill>
                            <a:schemeClr val="tx1"/>
                          </a:solidFill>
                        </a:rPr>
                        <a:t>Paper Title</a:t>
                      </a:r>
                      <a:endParaRPr lang="en-IN"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IN" sz="1200" b="1" dirty="0">
                          <a:solidFill>
                            <a:schemeClr val="tx1"/>
                          </a:solidFill>
                        </a:rPr>
                        <a:t>Authors / Year</a:t>
                      </a:r>
                      <a:endParaRPr lang="en-IN"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IN" sz="1200" b="1" dirty="0">
                          <a:solidFill>
                            <a:schemeClr val="tx1"/>
                          </a:solidFill>
                        </a:rPr>
                        <a:t>Key Contributions</a:t>
                      </a:r>
                      <a:endParaRPr lang="en-IN"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IN" sz="1200" b="1" dirty="0">
                          <a:solidFill>
                            <a:schemeClr val="tx1"/>
                          </a:solidFill>
                        </a:rPr>
                        <a:t>Techniques / Frameworks</a:t>
                      </a:r>
                      <a:endParaRPr lang="en-IN"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uNone/>
                      </a:pPr>
                      <a:r>
                        <a:rPr lang="en-IN" sz="1200" b="1" dirty="0">
                          <a:solidFill>
                            <a:schemeClr val="tx1"/>
                          </a:solidFill>
                        </a:rPr>
                        <a:t>Relation to Your Project</a:t>
                      </a:r>
                      <a:endParaRPr lang="en-IN"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5398712"/>
                  </a:ext>
                </a:extLst>
              </a:tr>
              <a:tr h="658052">
                <a:tc>
                  <a:txBody>
                    <a:bodyPr/>
                    <a:lstStyle/>
                    <a:p>
                      <a:pPr>
                        <a:buNone/>
                      </a:pPr>
                      <a:r>
                        <a:rPr lang="en-IN" sz="1200" dirty="0">
                          <a:solidFill>
                            <a:schemeClr val="tx1"/>
                          </a:solidFill>
                        </a:rPr>
                        <a:t>1</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Local AI: On-Device Machine Learning for Data Privacy</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dirty="0">
                          <a:solidFill>
                            <a:schemeClr val="tx1"/>
                          </a:solidFill>
                        </a:rPr>
                        <a:t>Lane et al. (2015)</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Discusses benefits and architectures for running ML on local devices</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a:solidFill>
                            <a:schemeClr val="tx1"/>
                          </a:solidFill>
                        </a:rPr>
                        <a:t>On-device inference, edge computing</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Validates your “runs locally and offline” approach for privacy-sensitive data analysis</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27342466"/>
                  </a:ext>
                </a:extLst>
              </a:tr>
              <a:tr h="658052">
                <a:tc>
                  <a:txBody>
                    <a:bodyPr/>
                    <a:lstStyle/>
                    <a:p>
                      <a:pPr>
                        <a:buNone/>
                      </a:pPr>
                      <a:r>
                        <a:rPr lang="en-IN" sz="1200" dirty="0">
                          <a:solidFill>
                            <a:schemeClr val="tx1"/>
                          </a:solidFill>
                        </a:rPr>
                        <a:t>2</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err="1">
                          <a:solidFill>
                            <a:schemeClr val="tx1"/>
                          </a:solidFill>
                        </a:rPr>
                        <a:t>Plotly</a:t>
                      </a:r>
                      <a:r>
                        <a:rPr lang="en-US" sz="1200" dirty="0">
                          <a:solidFill>
                            <a:schemeClr val="tx1"/>
                          </a:solidFill>
                        </a:rPr>
                        <a:t>: An Open-Source Graphing Library for Interactive Data Visualization</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dirty="0">
                          <a:solidFill>
                            <a:schemeClr val="tx1"/>
                          </a:solidFill>
                        </a:rPr>
                        <a:t>Inc. </a:t>
                      </a:r>
                      <a:r>
                        <a:rPr lang="en-IN" sz="1200" dirty="0" err="1">
                          <a:solidFill>
                            <a:schemeClr val="tx1"/>
                          </a:solidFill>
                        </a:rPr>
                        <a:t>Plotly</a:t>
                      </a:r>
                      <a:r>
                        <a:rPr lang="en-IN" sz="1200" dirty="0">
                          <a:solidFill>
                            <a:schemeClr val="tx1"/>
                          </a:solidFill>
                        </a:rPr>
                        <a:t> Technologies (2015)</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a:solidFill>
                            <a:schemeClr val="tx1"/>
                          </a:solidFill>
                        </a:rPr>
                        <a:t>High-quality, interactive visualizations for web apps</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dirty="0">
                          <a:solidFill>
                            <a:schemeClr val="tx1"/>
                          </a:solidFill>
                        </a:rPr>
                        <a:t>Plotly.js, Dash</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Matches your interactive charting and in-chat visualization editing features</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8480956"/>
                  </a:ext>
                </a:extLst>
              </a:tr>
              <a:tr h="658052">
                <a:tc>
                  <a:txBody>
                    <a:bodyPr/>
                    <a:lstStyle/>
                    <a:p>
                      <a:pPr>
                        <a:buNone/>
                      </a:pPr>
                      <a:r>
                        <a:rPr lang="en-IN" sz="1200" dirty="0">
                          <a:solidFill>
                            <a:schemeClr val="tx1"/>
                          </a:solidFill>
                        </a:rPr>
                        <a:t>3</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Towards Automatic Data Cleaning: An End-to-End Framework</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dirty="0">
                          <a:solidFill>
                            <a:schemeClr val="tx1"/>
                          </a:solidFill>
                        </a:rPr>
                        <a:t>Chu et al. (2016)</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Automatic detection &amp; correction of data errors</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a:solidFill>
                            <a:schemeClr val="tx1"/>
                          </a:solidFill>
                        </a:rPr>
                        <a:t>FAHES, Holistic data cleaning pipelines</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Aligns with your preprocessing phase for datasets before visualization and analysis</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973904"/>
                  </a:ext>
                </a:extLst>
              </a:tr>
              <a:tr h="658052">
                <a:tc>
                  <a:txBody>
                    <a:bodyPr/>
                    <a:lstStyle/>
                    <a:p>
                      <a:pPr>
                        <a:buNone/>
                      </a:pPr>
                      <a:r>
                        <a:rPr lang="en-IN" sz="1200" dirty="0">
                          <a:solidFill>
                            <a:schemeClr val="tx1"/>
                          </a:solidFill>
                        </a:rPr>
                        <a:t>4</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Retrieval-Augmented Generation for Knowledge-Intensive NLP Tasks</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dirty="0">
                          <a:solidFill>
                            <a:schemeClr val="tx1"/>
                          </a:solidFill>
                        </a:rPr>
                        <a:t>Lewis et al. (2020)</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Combines retrieval with generative models for better factual accuracy</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dirty="0">
                          <a:solidFill>
                            <a:schemeClr val="tx1"/>
                          </a:solidFill>
                        </a:rPr>
                        <a:t>RAG architecture</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solidFill>
                            <a:schemeClr val="tx1"/>
                          </a:solidFill>
                        </a:rPr>
                        <a:t>Aligns with your AI Q&amp;A feature using structured/unstructured data</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8869040"/>
                  </a:ext>
                </a:extLst>
              </a:tr>
              <a:tr h="1449639">
                <a:tc>
                  <a:txBody>
                    <a:bodyPr/>
                    <a:lstStyle/>
                    <a:p>
                      <a:pPr>
                        <a:buNone/>
                      </a:pPr>
                      <a:r>
                        <a:rPr lang="en-IN" sz="1200" b="0" dirty="0">
                          <a:solidFill>
                            <a:schemeClr val="tx1"/>
                          </a:solidFill>
                        </a:rPr>
                        <a:t>5</a:t>
                      </a: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b="0" dirty="0"/>
                        <a:t>QUIS: Question-guided Insights Generation for Automated EDA </a:t>
                      </a:r>
                      <a:endParaRPr lang="en-US" sz="1200" b="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dirty="0" err="1"/>
                        <a:t>Manatkar</a:t>
                      </a:r>
                      <a:r>
                        <a:rPr lang="en-IN" sz="1200" dirty="0"/>
                        <a:t> et al., 2024</a:t>
                      </a:r>
                      <a:endParaRPr lang="en-IN"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IN" sz="1200" dirty="0"/>
                        <a:t>Two-stage system: question generation (QUGEN) → statistical insight generation (ISGEN); no training required; defines scoring functions (Trend, Outstanding Value, Attribution, Distribution Difference).</a:t>
                      </a:r>
                      <a:endParaRPr lang="en-US"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t>LLM-driven iterative question generation; statistical tests (e.g., Mann-Kendall); classical search over views; insight cards &amp; thresholds</a:t>
                      </a:r>
                      <a:endParaRPr lang="en-IN"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US" sz="1200" dirty="0"/>
                        <a:t>Direct blueprint for your system; you can plug in new insight types (outlier, anomaly, predictive, reversal) into ISGEN and extend QUGEN iteration policy. </a:t>
                      </a:r>
                      <a:endParaRPr lang="en-US" sz="1200" dirty="0">
                        <a:solidFill>
                          <a:schemeClr val="tx1"/>
                        </a:solidFill>
                      </a:endParaRPr>
                    </a:p>
                  </a:txBody>
                  <a:tcPr marL="28627" marR="28627" marT="14314" marB="143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7817080"/>
                  </a:ext>
                </a:extLst>
              </a:tr>
            </a:tbl>
          </a:graphicData>
        </a:graphic>
      </p:graphicFrame>
    </p:spTree>
    <p:extLst>
      <p:ext uri="{BB962C8B-B14F-4D97-AF65-F5344CB8AC3E}">
        <p14:creationId xmlns:p14="http://schemas.microsoft.com/office/powerpoint/2010/main" val="1769861439"/>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D2025-E097-9FED-167D-20353431835C}"/>
              </a:ext>
            </a:extLst>
          </p:cNvPr>
          <p:cNvSpPr>
            <a:spLocks noGrp="1"/>
          </p:cNvSpPr>
          <p:nvPr>
            <p:ph type="title"/>
          </p:nvPr>
        </p:nvSpPr>
        <p:spPr>
          <a:xfrm>
            <a:off x="838200" y="365126"/>
            <a:ext cx="10515600" cy="1070136"/>
          </a:xfrm>
        </p:spPr>
        <p:txBody>
          <a:bodyPr/>
          <a:lstStyle/>
          <a:p>
            <a:pPr algn="just"/>
            <a:r>
              <a:rPr lang="en-IN" sz="5000" b="1" dirty="0"/>
              <a:t>Problem Statement in Existing System</a:t>
            </a:r>
          </a:p>
        </p:txBody>
      </p:sp>
      <p:sp>
        <p:nvSpPr>
          <p:cNvPr id="3" name="Content Placeholder 2">
            <a:extLst>
              <a:ext uri="{FF2B5EF4-FFF2-40B4-BE49-F238E27FC236}">
                <a16:creationId xmlns:a16="http://schemas.microsoft.com/office/drawing/2014/main" id="{80681F66-0231-90E0-1E7B-B6FAD90E84BD}"/>
              </a:ext>
            </a:extLst>
          </p:cNvPr>
          <p:cNvSpPr>
            <a:spLocks noGrp="1"/>
          </p:cNvSpPr>
          <p:nvPr>
            <p:ph idx="1"/>
          </p:nvPr>
        </p:nvSpPr>
        <p:spPr>
          <a:xfrm>
            <a:off x="838200" y="1690688"/>
            <a:ext cx="10515600" cy="4802186"/>
          </a:xfrm>
        </p:spPr>
        <p:txBody>
          <a:bodyPr>
            <a:normAutofit/>
          </a:bodyPr>
          <a:lstStyle/>
          <a:p>
            <a:pPr marL="0" indent="0" algn="just">
              <a:lnSpc>
                <a:spcPct val="100000"/>
              </a:lnSpc>
              <a:buNone/>
            </a:pPr>
            <a:r>
              <a:rPr lang="en-US" sz="2400" dirty="0"/>
              <a:t>In the current landscape, most data analysis solutions are heavily dependent on cloud infrastructure, making them unusable in offline or restricted environments and exposing sensitive datasets to privacy risks. These platforms often have a steep learning curve, requiring advanced technical skills that non-expert users may not possess. Furthermore, insights generated by existing systems are frequently presented as black-box outputs, lacking the transparency and explainability needed for informed decision-making. The workflow is fragmented, with data profiling, visualization, anomaly detection, and reporting spread across multiple tools, resulting in inefficiency and higher manual effort. Additionally, many systems provide static insights that fail to adapt when datasets are updated, leaving users without timely or context-aware analysis.</a:t>
            </a:r>
            <a:endParaRPr lang="en-IN" sz="2400" dirty="0"/>
          </a:p>
        </p:txBody>
      </p:sp>
    </p:spTree>
    <p:extLst>
      <p:ext uri="{BB962C8B-B14F-4D97-AF65-F5344CB8AC3E}">
        <p14:creationId xmlns:p14="http://schemas.microsoft.com/office/powerpoint/2010/main" val="2065100429"/>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C286A-3111-6002-6220-9B9632E19D32}"/>
              </a:ext>
            </a:extLst>
          </p:cNvPr>
          <p:cNvSpPr>
            <a:spLocks noGrp="1"/>
          </p:cNvSpPr>
          <p:nvPr>
            <p:ph type="title"/>
          </p:nvPr>
        </p:nvSpPr>
        <p:spPr/>
        <p:txBody>
          <a:bodyPr/>
          <a:lstStyle/>
          <a:p>
            <a:pPr algn="just"/>
            <a:r>
              <a:rPr lang="en-IN" sz="5000" b="1" dirty="0"/>
              <a:t>Proposed System</a:t>
            </a:r>
          </a:p>
        </p:txBody>
      </p:sp>
      <p:sp>
        <p:nvSpPr>
          <p:cNvPr id="3" name="Content Placeholder 2">
            <a:extLst>
              <a:ext uri="{FF2B5EF4-FFF2-40B4-BE49-F238E27FC236}">
                <a16:creationId xmlns:a16="http://schemas.microsoft.com/office/drawing/2014/main" id="{E4D8800A-341A-826F-D901-DE9EEF59AF2B}"/>
              </a:ext>
            </a:extLst>
          </p:cNvPr>
          <p:cNvSpPr>
            <a:spLocks noGrp="1"/>
          </p:cNvSpPr>
          <p:nvPr>
            <p:ph idx="1"/>
          </p:nvPr>
        </p:nvSpPr>
        <p:spPr>
          <a:xfrm>
            <a:off x="838200" y="1825625"/>
            <a:ext cx="10515600" cy="4667250"/>
          </a:xfrm>
        </p:spPr>
        <p:txBody>
          <a:bodyPr>
            <a:normAutofit lnSpcReduction="10000"/>
          </a:bodyPr>
          <a:lstStyle/>
          <a:p>
            <a:pPr marL="0" indent="0" algn="just">
              <a:buNone/>
            </a:pPr>
            <a:r>
              <a:rPr lang="en-US" sz="2400" dirty="0"/>
              <a:t>The proposed system, </a:t>
            </a:r>
            <a:r>
              <a:rPr lang="en-US" sz="2400" dirty="0" err="1"/>
              <a:t>DataSage</a:t>
            </a:r>
            <a:r>
              <a:rPr lang="en-US" sz="2400" dirty="0"/>
              <a:t> AI, addresses these limitations by offering a fully local, adaptive, and explainable AI assistant for tabular data analysis. Built with Python, </a:t>
            </a:r>
            <a:r>
              <a:rPr lang="en-US" sz="2400" dirty="0" err="1"/>
              <a:t>FastAPI</a:t>
            </a:r>
            <a:r>
              <a:rPr lang="en-US" sz="2400" dirty="0"/>
              <a:t>, Pandas, and </a:t>
            </a:r>
            <a:r>
              <a:rPr lang="en-US" sz="2400" dirty="0" err="1"/>
              <a:t>Plotly</a:t>
            </a:r>
            <a:r>
              <a:rPr lang="en-US" sz="2400" dirty="0"/>
              <a:t>, it operates entirely offline, ensuring complete data privacy and making it suitable for sensitive domains such as healthcare, education, agriculture, and small businesses. The system automates data profiling, visualization, anomaly detection, and pattern discovery, presenting results in interactive dashboards with clear, human-readable explanations. Unlike static solutions, </a:t>
            </a:r>
            <a:r>
              <a:rPr lang="en-US" sz="2400" dirty="0" err="1"/>
              <a:t>DataSage</a:t>
            </a:r>
            <a:r>
              <a:rPr lang="en-US" sz="2400" dirty="0"/>
              <a:t> AI dynamically adapts to periodic dataset updates, ensuring that insights remain relevant and up to date. It also supports natural-language queries—allowing users to ask questions like “Why did revenue drop last quarter?”—and provides context-aware, transparent answers grounded in the actual data. By combining usability, adaptability, and trust, </a:t>
            </a:r>
            <a:r>
              <a:rPr lang="en-US" sz="2400" dirty="0" err="1"/>
              <a:t>DataSage</a:t>
            </a:r>
            <a:r>
              <a:rPr lang="en-US" sz="2400" dirty="0"/>
              <a:t> AI delivers an all-in-one, offline-first analytics solution without requiring cloud infrastructure or advanced technical expertise.</a:t>
            </a:r>
            <a:endParaRPr lang="en-IN" sz="2400" dirty="0"/>
          </a:p>
        </p:txBody>
      </p:sp>
    </p:spTree>
    <p:extLst>
      <p:ext uri="{BB962C8B-B14F-4D97-AF65-F5344CB8AC3E}">
        <p14:creationId xmlns:p14="http://schemas.microsoft.com/office/powerpoint/2010/main" val="3685643735"/>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B4C83-8BD0-DC62-A92F-31008BF50376}"/>
              </a:ext>
            </a:extLst>
          </p:cNvPr>
          <p:cNvSpPr>
            <a:spLocks noGrp="1"/>
          </p:cNvSpPr>
          <p:nvPr>
            <p:ph type="title"/>
          </p:nvPr>
        </p:nvSpPr>
        <p:spPr/>
        <p:txBody>
          <a:bodyPr/>
          <a:lstStyle/>
          <a:p>
            <a:pPr algn="just"/>
            <a:r>
              <a:rPr lang="en-IN" sz="5000" b="1" dirty="0"/>
              <a:t>Objectives</a:t>
            </a:r>
          </a:p>
        </p:txBody>
      </p:sp>
      <p:sp>
        <p:nvSpPr>
          <p:cNvPr id="3" name="Content Placeholder 2">
            <a:extLst>
              <a:ext uri="{FF2B5EF4-FFF2-40B4-BE49-F238E27FC236}">
                <a16:creationId xmlns:a16="http://schemas.microsoft.com/office/drawing/2014/main" id="{262573AD-95BC-42A1-F3C2-881E81AEB6C9}"/>
              </a:ext>
            </a:extLst>
          </p:cNvPr>
          <p:cNvSpPr>
            <a:spLocks noGrp="1"/>
          </p:cNvSpPr>
          <p:nvPr>
            <p:ph idx="1"/>
          </p:nvPr>
        </p:nvSpPr>
        <p:spPr/>
        <p:txBody>
          <a:bodyPr/>
          <a:lstStyle/>
          <a:p>
            <a:pPr algn="just"/>
            <a:r>
              <a:rPr lang="en-US" sz="2400" dirty="0"/>
              <a:t>Automate Insight Generation: Deliver automated data profiling, visualization, anomaly detection, and pattern discovery without manual intervention.</a:t>
            </a:r>
          </a:p>
          <a:p>
            <a:pPr algn="just"/>
            <a:r>
              <a:rPr lang="en-US" sz="2400" dirty="0"/>
              <a:t>Improve Explainability: Offer transparent, plain-language explanations for all insights to build trust and support informed decision-making.</a:t>
            </a:r>
          </a:p>
          <a:p>
            <a:pPr algn="just"/>
            <a:r>
              <a:rPr lang="en-US" sz="2400" dirty="0"/>
              <a:t>Enable Adaptability: Automatically update analyses and summaries when datasets are modified or replaced.</a:t>
            </a:r>
          </a:p>
          <a:p>
            <a:pPr algn="just"/>
            <a:r>
              <a:rPr lang="en-US" sz="2400" dirty="0"/>
              <a:t>Unify Workflow: Integrate multiple data analysis steps into a single platform, eliminating the need for separate tools.</a:t>
            </a:r>
          </a:p>
          <a:p>
            <a:pPr algn="just"/>
            <a:r>
              <a:rPr lang="en-US" sz="2400" dirty="0"/>
              <a:t>Support Multiple Domains: Tailor the solution for diverse sectors such as healthcare, agriculture, education, and small business.</a:t>
            </a:r>
            <a:endParaRPr lang="en-IN" sz="2400" dirty="0"/>
          </a:p>
        </p:txBody>
      </p:sp>
    </p:spTree>
    <p:extLst>
      <p:ext uri="{BB962C8B-B14F-4D97-AF65-F5344CB8AC3E}">
        <p14:creationId xmlns:p14="http://schemas.microsoft.com/office/powerpoint/2010/main" val="2328828393"/>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B4C83-8BD0-DC62-A92F-31008BF50376}"/>
              </a:ext>
            </a:extLst>
          </p:cNvPr>
          <p:cNvSpPr>
            <a:spLocks noGrp="1"/>
          </p:cNvSpPr>
          <p:nvPr>
            <p:ph type="title"/>
          </p:nvPr>
        </p:nvSpPr>
        <p:spPr/>
        <p:txBody>
          <a:bodyPr/>
          <a:lstStyle/>
          <a:p>
            <a:pPr algn="just"/>
            <a:r>
              <a:rPr lang="en-IN" sz="5000" b="1" dirty="0"/>
              <a:t>Objectives</a:t>
            </a:r>
          </a:p>
        </p:txBody>
      </p:sp>
      <p:sp>
        <p:nvSpPr>
          <p:cNvPr id="3" name="Content Placeholder 2">
            <a:extLst>
              <a:ext uri="{FF2B5EF4-FFF2-40B4-BE49-F238E27FC236}">
                <a16:creationId xmlns:a16="http://schemas.microsoft.com/office/drawing/2014/main" id="{262573AD-95BC-42A1-F3C2-881E81AEB6C9}"/>
              </a:ext>
            </a:extLst>
          </p:cNvPr>
          <p:cNvSpPr>
            <a:spLocks noGrp="1"/>
          </p:cNvSpPr>
          <p:nvPr>
            <p:ph idx="1"/>
          </p:nvPr>
        </p:nvSpPr>
        <p:spPr/>
        <p:txBody>
          <a:bodyPr/>
          <a:lstStyle/>
          <a:p>
            <a:pPr algn="just"/>
            <a:r>
              <a:rPr lang="en-US" sz="2400" dirty="0"/>
              <a:t>Ensure Data Privacy: Provide a completely offline solution to safeguard sensitive datasets from cloud exposure.</a:t>
            </a:r>
          </a:p>
          <a:p>
            <a:pPr algn="just"/>
            <a:r>
              <a:rPr lang="en-US" sz="2400" dirty="0"/>
              <a:t>Enhance Accessibility: Enable non-technical users to perform advanced data analysis through an intuitive interface and natural-language queries.</a:t>
            </a:r>
          </a:p>
        </p:txBody>
      </p:sp>
    </p:spTree>
    <p:extLst>
      <p:ext uri="{BB962C8B-B14F-4D97-AF65-F5344CB8AC3E}">
        <p14:creationId xmlns:p14="http://schemas.microsoft.com/office/powerpoint/2010/main" val="468685898"/>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3F38D1-78A9-3D64-509F-4F25A26EA26F}"/>
              </a:ext>
            </a:extLst>
          </p:cNvPr>
          <p:cNvSpPr>
            <a:spLocks noGrp="1"/>
          </p:cNvSpPr>
          <p:nvPr>
            <p:ph type="title"/>
          </p:nvPr>
        </p:nvSpPr>
        <p:spPr>
          <a:xfrm>
            <a:off x="544945" y="2766218"/>
            <a:ext cx="11086647" cy="1325563"/>
          </a:xfrm>
        </p:spPr>
        <p:txBody>
          <a:bodyPr/>
          <a:lstStyle/>
          <a:p>
            <a:r>
              <a:rPr lang="en-IN" sz="6600" b="1" dirty="0"/>
              <a:t>			Project Domain</a:t>
            </a:r>
          </a:p>
        </p:txBody>
      </p:sp>
    </p:spTree>
    <p:extLst>
      <p:ext uri="{BB962C8B-B14F-4D97-AF65-F5344CB8AC3E}">
        <p14:creationId xmlns:p14="http://schemas.microsoft.com/office/powerpoint/2010/main" val="1711564060"/>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9FC959-6A1C-106A-FC6F-650B7F8B7786}"/>
              </a:ext>
            </a:extLst>
          </p:cNvPr>
          <p:cNvSpPr>
            <a:spLocks noGrp="1"/>
          </p:cNvSpPr>
          <p:nvPr>
            <p:ph type="title"/>
          </p:nvPr>
        </p:nvSpPr>
        <p:spPr/>
        <p:txBody>
          <a:bodyPr/>
          <a:lstStyle/>
          <a:p>
            <a:pPr algn="just"/>
            <a:r>
              <a:rPr lang="en-IN" sz="5000" b="1" dirty="0"/>
              <a:t>Requirement Analysis</a:t>
            </a:r>
          </a:p>
        </p:txBody>
      </p:sp>
      <p:sp>
        <p:nvSpPr>
          <p:cNvPr id="4" name="Content Placeholder 3">
            <a:extLst>
              <a:ext uri="{FF2B5EF4-FFF2-40B4-BE49-F238E27FC236}">
                <a16:creationId xmlns:a16="http://schemas.microsoft.com/office/drawing/2014/main" id="{B6F1DD85-1A44-5778-D8D6-893745A3C337}"/>
              </a:ext>
            </a:extLst>
          </p:cNvPr>
          <p:cNvSpPr>
            <a:spLocks noGrp="1"/>
          </p:cNvSpPr>
          <p:nvPr>
            <p:ph idx="1"/>
          </p:nvPr>
        </p:nvSpPr>
        <p:spPr/>
        <p:txBody>
          <a:bodyPr>
            <a:normAutofit/>
          </a:bodyPr>
          <a:lstStyle/>
          <a:p>
            <a:pPr marL="0" indent="0" algn="just">
              <a:buNone/>
            </a:pPr>
            <a:r>
              <a:rPr lang="en-IN" b="1" dirty="0"/>
              <a:t>1. Functional Requirements</a:t>
            </a:r>
          </a:p>
          <a:p>
            <a:pPr algn="just"/>
            <a:r>
              <a:rPr lang="en-IN" sz="2400" dirty="0"/>
              <a:t>Upload and process structured datasets (CSV, XLSX).</a:t>
            </a:r>
          </a:p>
          <a:p>
            <a:pPr algn="just"/>
            <a:r>
              <a:rPr lang="en-IN" sz="2400" dirty="0"/>
              <a:t>Perform automated data profiling (statistics, summaries).</a:t>
            </a:r>
          </a:p>
          <a:p>
            <a:pPr algn="just"/>
            <a:r>
              <a:rPr lang="en-IN" sz="2400" dirty="0"/>
              <a:t>Generate interactive visualizations (charts, graphs).</a:t>
            </a:r>
          </a:p>
          <a:p>
            <a:pPr algn="just"/>
            <a:r>
              <a:rPr lang="en-IN" sz="2400" dirty="0"/>
              <a:t>Detect anomalies and hidden patterns.</a:t>
            </a:r>
          </a:p>
          <a:p>
            <a:pPr algn="just"/>
            <a:r>
              <a:rPr lang="en-IN" sz="2400" dirty="0"/>
              <a:t>Support natural-language question answering about the dataset.</a:t>
            </a:r>
          </a:p>
          <a:p>
            <a:pPr algn="just"/>
            <a:r>
              <a:rPr lang="en-IN" sz="2400" dirty="0"/>
              <a:t>Provide plain-language explanations for insights.</a:t>
            </a:r>
          </a:p>
          <a:p>
            <a:pPr algn="just"/>
            <a:r>
              <a:rPr lang="en-IN" sz="2400" dirty="0"/>
              <a:t>Update insights dynamically when datasets change.</a:t>
            </a:r>
          </a:p>
          <a:p>
            <a:pPr algn="just"/>
            <a:r>
              <a:rPr lang="en-IN" sz="2400" dirty="0"/>
              <a:t>Export reports in multiple formats (PDF, Excel).</a:t>
            </a:r>
          </a:p>
          <a:p>
            <a:pPr algn="just"/>
            <a:endParaRPr lang="en-IN" dirty="0"/>
          </a:p>
        </p:txBody>
      </p:sp>
    </p:spTree>
    <p:extLst>
      <p:ext uri="{BB962C8B-B14F-4D97-AF65-F5344CB8AC3E}">
        <p14:creationId xmlns:p14="http://schemas.microsoft.com/office/powerpoint/2010/main" val="794094034"/>
      </p:ext>
    </p:extLst>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50CB4-42B4-990C-58EF-66E0041A92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A5F5F4-36FB-C7C4-401E-EF70B9B2C09E}"/>
              </a:ext>
            </a:extLst>
          </p:cNvPr>
          <p:cNvSpPr>
            <a:spLocks noGrp="1"/>
          </p:cNvSpPr>
          <p:nvPr>
            <p:ph type="title"/>
          </p:nvPr>
        </p:nvSpPr>
        <p:spPr/>
        <p:txBody>
          <a:bodyPr/>
          <a:lstStyle/>
          <a:p>
            <a:pPr algn="just"/>
            <a:r>
              <a:rPr lang="en-IN" sz="5000" b="1" dirty="0"/>
              <a:t>Requirement Analysis</a:t>
            </a:r>
          </a:p>
        </p:txBody>
      </p:sp>
      <p:sp>
        <p:nvSpPr>
          <p:cNvPr id="4" name="Content Placeholder 3">
            <a:extLst>
              <a:ext uri="{FF2B5EF4-FFF2-40B4-BE49-F238E27FC236}">
                <a16:creationId xmlns:a16="http://schemas.microsoft.com/office/drawing/2014/main" id="{9952F3C1-9622-2925-C758-2B3F814ACA92}"/>
              </a:ext>
            </a:extLst>
          </p:cNvPr>
          <p:cNvSpPr>
            <a:spLocks noGrp="1"/>
          </p:cNvSpPr>
          <p:nvPr>
            <p:ph idx="1"/>
          </p:nvPr>
        </p:nvSpPr>
        <p:spPr/>
        <p:txBody>
          <a:bodyPr>
            <a:normAutofit lnSpcReduction="10000"/>
          </a:bodyPr>
          <a:lstStyle/>
          <a:p>
            <a:pPr marL="0" indent="0" algn="just">
              <a:buNone/>
            </a:pPr>
            <a:r>
              <a:rPr lang="en-US" b="1" dirty="0"/>
              <a:t>2. Non-Functional Requirements</a:t>
            </a:r>
          </a:p>
          <a:p>
            <a:pPr algn="just">
              <a:lnSpc>
                <a:spcPct val="150000"/>
              </a:lnSpc>
            </a:pPr>
            <a:r>
              <a:rPr lang="en-US" sz="2400" b="1" dirty="0"/>
              <a:t>Offline Capability:</a:t>
            </a:r>
            <a:r>
              <a:rPr lang="en-US" sz="2400" dirty="0"/>
              <a:t> System must function without internet connectivity.</a:t>
            </a:r>
          </a:p>
          <a:p>
            <a:pPr algn="just">
              <a:lnSpc>
                <a:spcPct val="150000"/>
              </a:lnSpc>
            </a:pPr>
            <a:r>
              <a:rPr lang="en-US" sz="2400" b="1" dirty="0"/>
              <a:t>Performance:</a:t>
            </a:r>
            <a:r>
              <a:rPr lang="en-US" sz="2400" dirty="0"/>
              <a:t> Process datasets up to a defined size limit within a few seconds.</a:t>
            </a:r>
          </a:p>
          <a:p>
            <a:pPr algn="just">
              <a:lnSpc>
                <a:spcPct val="150000"/>
              </a:lnSpc>
            </a:pPr>
            <a:r>
              <a:rPr lang="en-US" sz="2400" b="1" dirty="0"/>
              <a:t>Usability:</a:t>
            </a:r>
            <a:r>
              <a:rPr lang="en-US" sz="2400" dirty="0"/>
              <a:t> Simple, intuitive UI accessible to non-technical users.</a:t>
            </a:r>
          </a:p>
          <a:p>
            <a:pPr algn="just">
              <a:lnSpc>
                <a:spcPct val="150000"/>
              </a:lnSpc>
            </a:pPr>
            <a:r>
              <a:rPr lang="en-US" sz="2400" b="1" dirty="0"/>
              <a:t>Scalability:</a:t>
            </a:r>
            <a:r>
              <a:rPr lang="en-US" sz="2400" dirty="0"/>
              <a:t> Ability to handle increasing dataset sizes efficiently.</a:t>
            </a:r>
          </a:p>
          <a:p>
            <a:pPr algn="just">
              <a:lnSpc>
                <a:spcPct val="150000"/>
              </a:lnSpc>
            </a:pPr>
            <a:r>
              <a:rPr lang="en-US" sz="2400" b="1" dirty="0"/>
              <a:t>Security:</a:t>
            </a:r>
            <a:r>
              <a:rPr lang="en-US" sz="2400" dirty="0"/>
              <a:t> Ensure complete data privacy by preventing cloud upload.</a:t>
            </a:r>
          </a:p>
          <a:p>
            <a:pPr algn="just">
              <a:lnSpc>
                <a:spcPct val="150000"/>
              </a:lnSpc>
            </a:pPr>
            <a:r>
              <a:rPr lang="en-US" sz="2400" b="1" dirty="0"/>
              <a:t>Maintainability:</a:t>
            </a:r>
            <a:r>
              <a:rPr lang="en-US" sz="2400" dirty="0"/>
              <a:t> Modular code structure for easier updates and enhancements.</a:t>
            </a:r>
          </a:p>
        </p:txBody>
      </p:sp>
    </p:spTree>
    <p:extLst>
      <p:ext uri="{BB962C8B-B14F-4D97-AF65-F5344CB8AC3E}">
        <p14:creationId xmlns:p14="http://schemas.microsoft.com/office/powerpoint/2010/main" val="1342351755"/>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3659C-C483-5C9D-77A6-082446B0445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DCA8C2-8298-75B2-3A6F-2E72501D3BD4}"/>
              </a:ext>
            </a:extLst>
          </p:cNvPr>
          <p:cNvSpPr>
            <a:spLocks noGrp="1"/>
          </p:cNvSpPr>
          <p:nvPr>
            <p:ph type="title"/>
          </p:nvPr>
        </p:nvSpPr>
        <p:spPr/>
        <p:txBody>
          <a:bodyPr/>
          <a:lstStyle/>
          <a:p>
            <a:pPr algn="just"/>
            <a:r>
              <a:rPr lang="en-IN" sz="5000" b="1" dirty="0"/>
              <a:t>Requirement Analysis</a:t>
            </a:r>
          </a:p>
        </p:txBody>
      </p:sp>
      <p:sp>
        <p:nvSpPr>
          <p:cNvPr id="4" name="Content Placeholder 3">
            <a:extLst>
              <a:ext uri="{FF2B5EF4-FFF2-40B4-BE49-F238E27FC236}">
                <a16:creationId xmlns:a16="http://schemas.microsoft.com/office/drawing/2014/main" id="{020DD302-91B9-6F63-5819-9345A5791FE8}"/>
              </a:ext>
            </a:extLst>
          </p:cNvPr>
          <p:cNvSpPr>
            <a:spLocks noGrp="1"/>
          </p:cNvSpPr>
          <p:nvPr>
            <p:ph idx="1"/>
          </p:nvPr>
        </p:nvSpPr>
        <p:spPr/>
        <p:txBody>
          <a:bodyPr>
            <a:normAutofit/>
          </a:bodyPr>
          <a:lstStyle/>
          <a:p>
            <a:pPr marL="0" indent="0" algn="just">
              <a:buNone/>
            </a:pPr>
            <a:r>
              <a:rPr lang="en-IN" b="1" dirty="0"/>
              <a:t>3. Software Requirements</a:t>
            </a:r>
          </a:p>
          <a:p>
            <a:pPr algn="just">
              <a:lnSpc>
                <a:spcPct val="150000"/>
              </a:lnSpc>
            </a:pPr>
            <a:r>
              <a:rPr lang="en-IN" sz="2400" b="1" dirty="0"/>
              <a:t>Backend:</a:t>
            </a:r>
            <a:r>
              <a:rPr lang="en-IN" sz="2400" dirty="0"/>
              <a:t> Python, </a:t>
            </a:r>
            <a:r>
              <a:rPr lang="en-IN" sz="2400" dirty="0" err="1"/>
              <a:t>FastAPI</a:t>
            </a:r>
            <a:endParaRPr lang="en-IN" sz="2400" dirty="0"/>
          </a:p>
          <a:p>
            <a:pPr algn="just">
              <a:lnSpc>
                <a:spcPct val="150000"/>
              </a:lnSpc>
            </a:pPr>
            <a:r>
              <a:rPr lang="en-IN" sz="2400" b="1" dirty="0"/>
              <a:t>Libraries:</a:t>
            </a:r>
            <a:r>
              <a:rPr lang="en-IN" sz="2400" dirty="0"/>
              <a:t> Pandas, </a:t>
            </a:r>
            <a:r>
              <a:rPr lang="en-IN" sz="2400" dirty="0" err="1"/>
              <a:t>Plotly</a:t>
            </a:r>
            <a:r>
              <a:rPr lang="en-IN" sz="2400" dirty="0"/>
              <a:t>, NumPy, Scikit-learn (for anomaly detection), Optional LLM via </a:t>
            </a:r>
            <a:r>
              <a:rPr lang="en-IN" sz="2400" dirty="0" err="1"/>
              <a:t>Ollama</a:t>
            </a:r>
            <a:endParaRPr lang="en-IN" sz="2400" dirty="0"/>
          </a:p>
          <a:p>
            <a:pPr algn="just">
              <a:lnSpc>
                <a:spcPct val="150000"/>
              </a:lnSpc>
            </a:pPr>
            <a:r>
              <a:rPr lang="en-IN" sz="2400" b="1" dirty="0"/>
              <a:t>Frontend:</a:t>
            </a:r>
            <a:r>
              <a:rPr lang="en-IN" sz="2400" dirty="0"/>
              <a:t> React.js (or HTML/CSS/JavaScript if standalone)</a:t>
            </a:r>
          </a:p>
          <a:p>
            <a:pPr algn="just">
              <a:lnSpc>
                <a:spcPct val="150000"/>
              </a:lnSpc>
            </a:pPr>
            <a:r>
              <a:rPr lang="en-IN" sz="2400" b="1" dirty="0"/>
              <a:t>Database:</a:t>
            </a:r>
            <a:r>
              <a:rPr lang="en-IN" sz="2400" dirty="0"/>
              <a:t> MongoDB (for metadata storage)</a:t>
            </a:r>
          </a:p>
          <a:p>
            <a:pPr algn="just">
              <a:lnSpc>
                <a:spcPct val="150000"/>
              </a:lnSpc>
            </a:pPr>
            <a:r>
              <a:rPr lang="en-IN" sz="2400" b="1" dirty="0"/>
              <a:t>Environment:</a:t>
            </a:r>
            <a:r>
              <a:rPr lang="en-IN" sz="2400" dirty="0"/>
              <a:t> Local machine / server with Python 3.10+</a:t>
            </a:r>
          </a:p>
        </p:txBody>
      </p:sp>
    </p:spTree>
    <p:extLst>
      <p:ext uri="{BB962C8B-B14F-4D97-AF65-F5344CB8AC3E}">
        <p14:creationId xmlns:p14="http://schemas.microsoft.com/office/powerpoint/2010/main" val="1257755724"/>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B1B3F-598B-A77E-99F5-F112323A9E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3851BCE-5793-B994-4493-CE3BD1D87BD3}"/>
              </a:ext>
            </a:extLst>
          </p:cNvPr>
          <p:cNvSpPr>
            <a:spLocks noGrp="1"/>
          </p:cNvSpPr>
          <p:nvPr>
            <p:ph type="title"/>
          </p:nvPr>
        </p:nvSpPr>
        <p:spPr/>
        <p:txBody>
          <a:bodyPr/>
          <a:lstStyle/>
          <a:p>
            <a:pPr algn="just"/>
            <a:r>
              <a:rPr lang="en-IN" sz="5000" b="1" dirty="0"/>
              <a:t>Requirement Analysis</a:t>
            </a:r>
          </a:p>
        </p:txBody>
      </p:sp>
      <p:sp>
        <p:nvSpPr>
          <p:cNvPr id="4" name="Content Placeholder 3">
            <a:extLst>
              <a:ext uri="{FF2B5EF4-FFF2-40B4-BE49-F238E27FC236}">
                <a16:creationId xmlns:a16="http://schemas.microsoft.com/office/drawing/2014/main" id="{EDEFB14D-7D43-E731-75C5-36441BE7B657}"/>
              </a:ext>
            </a:extLst>
          </p:cNvPr>
          <p:cNvSpPr>
            <a:spLocks noGrp="1"/>
          </p:cNvSpPr>
          <p:nvPr>
            <p:ph idx="1"/>
          </p:nvPr>
        </p:nvSpPr>
        <p:spPr/>
        <p:txBody>
          <a:bodyPr>
            <a:normAutofit/>
          </a:bodyPr>
          <a:lstStyle/>
          <a:p>
            <a:pPr marL="0" indent="0" algn="just">
              <a:buNone/>
            </a:pPr>
            <a:r>
              <a:rPr lang="en-IN" b="1" dirty="0"/>
              <a:t>4. Hardware Requirements</a:t>
            </a:r>
          </a:p>
          <a:p>
            <a:pPr algn="just"/>
            <a:r>
              <a:rPr lang="en-IN" sz="2400" b="1" dirty="0"/>
              <a:t>Minimum:</a:t>
            </a:r>
            <a:endParaRPr lang="en-IN" sz="2400" dirty="0"/>
          </a:p>
          <a:p>
            <a:pPr lvl="1" algn="just"/>
            <a:r>
              <a:rPr lang="en-IN" dirty="0"/>
              <a:t>Processor: Dual-core CPU (2 GHz or higher)</a:t>
            </a:r>
          </a:p>
          <a:p>
            <a:pPr lvl="1" algn="just"/>
            <a:r>
              <a:rPr lang="en-IN" dirty="0"/>
              <a:t>RAM: 4 GB</a:t>
            </a:r>
          </a:p>
          <a:p>
            <a:pPr lvl="1" algn="just"/>
            <a:r>
              <a:rPr lang="en-IN" dirty="0"/>
              <a:t>Storage: 100 GB free space</a:t>
            </a:r>
          </a:p>
          <a:p>
            <a:pPr algn="just"/>
            <a:r>
              <a:rPr lang="en-IN" sz="2400" b="1" dirty="0"/>
              <a:t>Recommended:</a:t>
            </a:r>
            <a:endParaRPr lang="en-IN" sz="2400" dirty="0"/>
          </a:p>
          <a:p>
            <a:pPr lvl="1" algn="just"/>
            <a:r>
              <a:rPr lang="en-IN" dirty="0"/>
              <a:t>Processor: Quad-core CPU (3 GHz or higher)</a:t>
            </a:r>
          </a:p>
          <a:p>
            <a:pPr lvl="1" algn="just"/>
            <a:r>
              <a:rPr lang="en-IN" dirty="0"/>
              <a:t>RAM: 8 GB or more</a:t>
            </a:r>
          </a:p>
          <a:p>
            <a:pPr lvl="1" algn="just"/>
            <a:r>
              <a:rPr lang="en-IN" dirty="0"/>
              <a:t>Storage: 256 GB free space</a:t>
            </a:r>
          </a:p>
          <a:p>
            <a:pPr lvl="1" algn="just"/>
            <a:r>
              <a:rPr lang="en-IN" dirty="0"/>
              <a:t>GPU (Optional) for faster LLM inference</a:t>
            </a:r>
          </a:p>
        </p:txBody>
      </p:sp>
    </p:spTree>
    <p:extLst>
      <p:ext uri="{BB962C8B-B14F-4D97-AF65-F5344CB8AC3E}">
        <p14:creationId xmlns:p14="http://schemas.microsoft.com/office/powerpoint/2010/main" val="2437043860"/>
      </p:ext>
    </p:extLst>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5BCD0-C92F-CB68-7015-2D236ACC8FC1}"/>
              </a:ext>
            </a:extLst>
          </p:cNvPr>
          <p:cNvSpPr>
            <a:spLocks noGrp="1"/>
          </p:cNvSpPr>
          <p:nvPr>
            <p:ph type="title"/>
          </p:nvPr>
        </p:nvSpPr>
        <p:spPr/>
        <p:txBody>
          <a:bodyPr/>
          <a:lstStyle/>
          <a:p>
            <a:pPr algn="just"/>
            <a:r>
              <a:rPr lang="en-IN" sz="5000" b="1" dirty="0"/>
              <a:t>System Architecture</a:t>
            </a:r>
          </a:p>
        </p:txBody>
      </p:sp>
      <p:pic>
        <p:nvPicPr>
          <p:cNvPr id="5" name="Content Placeholder 4">
            <a:extLst>
              <a:ext uri="{FF2B5EF4-FFF2-40B4-BE49-F238E27FC236}">
                <a16:creationId xmlns:a16="http://schemas.microsoft.com/office/drawing/2014/main" id="{3F91549D-8603-2A79-1262-5F480CE453BF}"/>
              </a:ext>
            </a:extLst>
          </p:cNvPr>
          <p:cNvPicPr>
            <a:picLocks noGrp="1" noChangeAspect="1"/>
          </p:cNvPicPr>
          <p:nvPr>
            <p:ph idx="1"/>
          </p:nvPr>
        </p:nvPicPr>
        <p:blipFill>
          <a:blip r:embed="rId2"/>
          <a:stretch>
            <a:fillRect/>
          </a:stretch>
        </p:blipFill>
        <p:spPr>
          <a:xfrm>
            <a:off x="1450108" y="1461223"/>
            <a:ext cx="8423566" cy="4810268"/>
          </a:xfrm>
        </p:spPr>
      </p:pic>
    </p:spTree>
    <p:extLst>
      <p:ext uri="{BB962C8B-B14F-4D97-AF65-F5344CB8AC3E}">
        <p14:creationId xmlns:p14="http://schemas.microsoft.com/office/powerpoint/2010/main" val="4122299827"/>
      </p:ext>
    </p:extLst>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046A-5368-A318-C80C-CEA06BB20E38}"/>
              </a:ext>
            </a:extLst>
          </p:cNvPr>
          <p:cNvSpPr>
            <a:spLocks noGrp="1"/>
          </p:cNvSpPr>
          <p:nvPr>
            <p:ph type="title"/>
          </p:nvPr>
        </p:nvSpPr>
        <p:spPr/>
        <p:txBody>
          <a:bodyPr/>
          <a:lstStyle/>
          <a:p>
            <a:pPr algn="just"/>
            <a:r>
              <a:rPr lang="en-IN" sz="5000" b="1" dirty="0"/>
              <a:t>Methodology</a:t>
            </a:r>
          </a:p>
        </p:txBody>
      </p:sp>
      <p:sp>
        <p:nvSpPr>
          <p:cNvPr id="3" name="Content Placeholder 2">
            <a:extLst>
              <a:ext uri="{FF2B5EF4-FFF2-40B4-BE49-F238E27FC236}">
                <a16:creationId xmlns:a16="http://schemas.microsoft.com/office/drawing/2014/main" id="{F0AD151B-CE14-74B6-0E04-9C69AFF255CC}"/>
              </a:ext>
            </a:extLst>
          </p:cNvPr>
          <p:cNvSpPr>
            <a:spLocks noGrp="1"/>
          </p:cNvSpPr>
          <p:nvPr>
            <p:ph idx="1"/>
          </p:nvPr>
        </p:nvSpPr>
        <p:spPr/>
        <p:txBody>
          <a:bodyPr>
            <a:normAutofit/>
          </a:bodyPr>
          <a:lstStyle/>
          <a:p>
            <a:pPr marL="0" indent="0" algn="just">
              <a:buNone/>
            </a:pPr>
            <a:r>
              <a:rPr lang="en-US" dirty="0" err="1"/>
              <a:t>DataSage</a:t>
            </a:r>
            <a:r>
              <a:rPr lang="en-US" i="1" dirty="0"/>
              <a:t> </a:t>
            </a:r>
            <a:r>
              <a:rPr lang="en-US" dirty="0"/>
              <a:t>AI follows a structured, modular approach to ensure robustness, adaptability, and ease of deployment in offline environments</a:t>
            </a:r>
          </a:p>
          <a:p>
            <a:pPr marL="0" indent="0" algn="just">
              <a:buNone/>
            </a:pPr>
            <a:r>
              <a:rPr lang="en-IN" b="1" dirty="0"/>
              <a:t>1. Data Ingestion and Preprocessing</a:t>
            </a:r>
          </a:p>
          <a:p>
            <a:pPr algn="just"/>
            <a:r>
              <a:rPr lang="en-IN" sz="2400" b="1" dirty="0"/>
              <a:t>Input Handling</a:t>
            </a:r>
            <a:r>
              <a:rPr lang="en-IN" sz="2400" dirty="0"/>
              <a:t>: The system accepts structured datasets in formats such as CSV and Excel.</a:t>
            </a:r>
          </a:p>
          <a:p>
            <a:pPr algn="just"/>
            <a:r>
              <a:rPr lang="en-IN" sz="2400" b="1" dirty="0"/>
              <a:t>Validation</a:t>
            </a:r>
            <a:r>
              <a:rPr lang="en-IN" sz="2400" dirty="0"/>
              <a:t>: Checks for schema consistency, missing values, and format errors.</a:t>
            </a:r>
          </a:p>
          <a:p>
            <a:pPr algn="just"/>
            <a:r>
              <a:rPr lang="en-IN" sz="2400" b="1" dirty="0"/>
              <a:t>Cleaning &amp; Transformation</a:t>
            </a:r>
            <a:r>
              <a:rPr lang="en-IN" sz="2400" dirty="0"/>
              <a:t>: Handles missing data (imputation or removal), removes duplicates, normalizes column names, and converts data types for uniform processing.</a:t>
            </a:r>
          </a:p>
        </p:txBody>
      </p:sp>
    </p:spTree>
    <p:extLst>
      <p:ext uri="{BB962C8B-B14F-4D97-AF65-F5344CB8AC3E}">
        <p14:creationId xmlns:p14="http://schemas.microsoft.com/office/powerpoint/2010/main" val="2177920877"/>
      </p:ext>
    </p:extLst>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046A-5368-A318-C80C-CEA06BB20E38}"/>
              </a:ext>
            </a:extLst>
          </p:cNvPr>
          <p:cNvSpPr>
            <a:spLocks noGrp="1"/>
          </p:cNvSpPr>
          <p:nvPr>
            <p:ph type="title"/>
          </p:nvPr>
        </p:nvSpPr>
        <p:spPr/>
        <p:txBody>
          <a:bodyPr/>
          <a:lstStyle/>
          <a:p>
            <a:pPr algn="just"/>
            <a:r>
              <a:rPr lang="en-IN" sz="6000" b="1" dirty="0"/>
              <a:t>Methodology</a:t>
            </a:r>
          </a:p>
        </p:txBody>
      </p:sp>
      <p:sp>
        <p:nvSpPr>
          <p:cNvPr id="3" name="Content Placeholder 2">
            <a:extLst>
              <a:ext uri="{FF2B5EF4-FFF2-40B4-BE49-F238E27FC236}">
                <a16:creationId xmlns:a16="http://schemas.microsoft.com/office/drawing/2014/main" id="{F0AD151B-CE14-74B6-0E04-9C69AFF255CC}"/>
              </a:ext>
            </a:extLst>
          </p:cNvPr>
          <p:cNvSpPr>
            <a:spLocks noGrp="1"/>
          </p:cNvSpPr>
          <p:nvPr>
            <p:ph idx="1"/>
          </p:nvPr>
        </p:nvSpPr>
        <p:spPr/>
        <p:txBody>
          <a:bodyPr/>
          <a:lstStyle/>
          <a:p>
            <a:pPr marL="0" indent="0" algn="just">
              <a:buNone/>
            </a:pPr>
            <a:r>
              <a:rPr lang="en-IN" b="1" dirty="0"/>
              <a:t>2. Data Profiling and Summary Generation</a:t>
            </a:r>
          </a:p>
          <a:p>
            <a:pPr algn="just">
              <a:lnSpc>
                <a:spcPct val="150000"/>
              </a:lnSpc>
            </a:pPr>
            <a:r>
              <a:rPr lang="en-IN" sz="2400" b="1" dirty="0"/>
              <a:t>Descriptive Statistics</a:t>
            </a:r>
            <a:r>
              <a:rPr lang="en-IN" sz="2400" dirty="0"/>
              <a:t>: Calculates mean, median, mode, variance, standard deviation, and data distribution.</a:t>
            </a:r>
          </a:p>
          <a:p>
            <a:pPr algn="just">
              <a:lnSpc>
                <a:spcPct val="150000"/>
              </a:lnSpc>
            </a:pPr>
            <a:r>
              <a:rPr lang="en-IN" sz="2400" b="1" dirty="0"/>
              <a:t>Automated Profiling</a:t>
            </a:r>
            <a:r>
              <a:rPr lang="en-IN" sz="2400" dirty="0"/>
              <a:t>: Generates summaries of dataset dimensions, data types, and null value percentages.</a:t>
            </a:r>
          </a:p>
          <a:p>
            <a:pPr algn="just">
              <a:lnSpc>
                <a:spcPct val="150000"/>
              </a:lnSpc>
            </a:pPr>
            <a:r>
              <a:rPr lang="en-IN" sz="2400" b="1" dirty="0"/>
              <a:t>Correlation Analysis</a:t>
            </a:r>
            <a:r>
              <a:rPr lang="en-IN" sz="2400" dirty="0"/>
              <a:t>: Identifies relationships between variables using correlation matrices and visual heatmaps.</a:t>
            </a:r>
          </a:p>
        </p:txBody>
      </p:sp>
    </p:spTree>
    <p:extLst>
      <p:ext uri="{BB962C8B-B14F-4D97-AF65-F5344CB8AC3E}">
        <p14:creationId xmlns:p14="http://schemas.microsoft.com/office/powerpoint/2010/main" val="1942729570"/>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6F9C9-C805-4E31-D986-D18EBD5AF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0A15C-2B5A-2C7B-D1EF-6B5ABF756E2E}"/>
              </a:ext>
            </a:extLst>
          </p:cNvPr>
          <p:cNvSpPr>
            <a:spLocks noGrp="1"/>
          </p:cNvSpPr>
          <p:nvPr>
            <p:ph type="title"/>
          </p:nvPr>
        </p:nvSpPr>
        <p:spPr/>
        <p:txBody>
          <a:bodyPr/>
          <a:lstStyle/>
          <a:p>
            <a:pPr algn="just"/>
            <a:r>
              <a:rPr lang="en-IN" sz="5000" b="1" dirty="0"/>
              <a:t>Methodology</a:t>
            </a:r>
          </a:p>
        </p:txBody>
      </p:sp>
      <p:sp>
        <p:nvSpPr>
          <p:cNvPr id="3" name="Content Placeholder 2">
            <a:extLst>
              <a:ext uri="{FF2B5EF4-FFF2-40B4-BE49-F238E27FC236}">
                <a16:creationId xmlns:a16="http://schemas.microsoft.com/office/drawing/2014/main" id="{58F0D91A-E80E-9312-60BD-22E41203C51B}"/>
              </a:ext>
            </a:extLst>
          </p:cNvPr>
          <p:cNvSpPr>
            <a:spLocks noGrp="1"/>
          </p:cNvSpPr>
          <p:nvPr>
            <p:ph idx="1"/>
          </p:nvPr>
        </p:nvSpPr>
        <p:spPr/>
        <p:txBody>
          <a:bodyPr/>
          <a:lstStyle/>
          <a:p>
            <a:pPr marL="0" indent="0" algn="just">
              <a:buNone/>
            </a:pPr>
            <a:r>
              <a:rPr lang="en-US" b="1" dirty="0"/>
              <a:t>3. Insight Extraction and Anomaly Detection</a:t>
            </a:r>
          </a:p>
          <a:p>
            <a:pPr algn="just">
              <a:lnSpc>
                <a:spcPct val="150000"/>
              </a:lnSpc>
            </a:pPr>
            <a:r>
              <a:rPr lang="en-US" sz="2400" b="1" dirty="0"/>
              <a:t>Pattern Discovery</a:t>
            </a:r>
            <a:r>
              <a:rPr lang="en-US" sz="2400" dirty="0"/>
              <a:t>: Identifies trends, seasonal effects, and recurring patterns.</a:t>
            </a:r>
          </a:p>
          <a:p>
            <a:pPr algn="just">
              <a:lnSpc>
                <a:spcPct val="150000"/>
              </a:lnSpc>
            </a:pPr>
            <a:r>
              <a:rPr lang="en-US" sz="2400" b="1" dirty="0"/>
              <a:t>Anomaly Detection</a:t>
            </a:r>
            <a:r>
              <a:rPr lang="en-US" sz="2400" dirty="0"/>
              <a:t>: Detects outliers and unusual data points using statistical and rule-based methods.</a:t>
            </a:r>
          </a:p>
          <a:p>
            <a:pPr algn="just">
              <a:lnSpc>
                <a:spcPct val="150000"/>
              </a:lnSpc>
            </a:pPr>
            <a:r>
              <a:rPr lang="en-US" sz="2400" b="1" dirty="0"/>
              <a:t>Dynamic Summaries</a:t>
            </a:r>
            <a:r>
              <a:rPr lang="en-US" sz="2400" dirty="0"/>
              <a:t>: Updates insights automatically when new data is loaded.</a:t>
            </a:r>
          </a:p>
        </p:txBody>
      </p:sp>
    </p:spTree>
    <p:extLst>
      <p:ext uri="{BB962C8B-B14F-4D97-AF65-F5344CB8AC3E}">
        <p14:creationId xmlns:p14="http://schemas.microsoft.com/office/powerpoint/2010/main" val="3046046040"/>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6F9C9-C805-4E31-D986-D18EBD5AF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0A15C-2B5A-2C7B-D1EF-6B5ABF756E2E}"/>
              </a:ext>
            </a:extLst>
          </p:cNvPr>
          <p:cNvSpPr>
            <a:spLocks noGrp="1"/>
          </p:cNvSpPr>
          <p:nvPr>
            <p:ph type="title"/>
          </p:nvPr>
        </p:nvSpPr>
        <p:spPr/>
        <p:txBody>
          <a:bodyPr/>
          <a:lstStyle/>
          <a:p>
            <a:pPr algn="just"/>
            <a:r>
              <a:rPr lang="en-IN" sz="5000" b="1" dirty="0"/>
              <a:t>Methodology</a:t>
            </a:r>
          </a:p>
        </p:txBody>
      </p:sp>
      <p:sp>
        <p:nvSpPr>
          <p:cNvPr id="3" name="Content Placeholder 2">
            <a:extLst>
              <a:ext uri="{FF2B5EF4-FFF2-40B4-BE49-F238E27FC236}">
                <a16:creationId xmlns:a16="http://schemas.microsoft.com/office/drawing/2014/main" id="{58F0D91A-E80E-9312-60BD-22E41203C51B}"/>
              </a:ext>
            </a:extLst>
          </p:cNvPr>
          <p:cNvSpPr>
            <a:spLocks noGrp="1"/>
          </p:cNvSpPr>
          <p:nvPr>
            <p:ph idx="1"/>
          </p:nvPr>
        </p:nvSpPr>
        <p:spPr/>
        <p:txBody>
          <a:bodyPr>
            <a:normAutofit/>
          </a:bodyPr>
          <a:lstStyle/>
          <a:p>
            <a:pPr marL="0" indent="0" algn="just">
              <a:buNone/>
            </a:pPr>
            <a:r>
              <a:rPr lang="en-US" b="1" dirty="0"/>
              <a:t>4. Visualization Layer</a:t>
            </a:r>
          </a:p>
          <a:p>
            <a:pPr algn="just"/>
            <a:r>
              <a:rPr lang="en-US" sz="2400" b="1" dirty="0"/>
              <a:t>Interactive Charts</a:t>
            </a:r>
            <a:r>
              <a:rPr lang="en-US" sz="2400" dirty="0"/>
              <a:t>: Uses </a:t>
            </a:r>
            <a:r>
              <a:rPr lang="en-US" sz="2400" dirty="0" err="1"/>
              <a:t>Plotly</a:t>
            </a:r>
            <a:r>
              <a:rPr lang="en-US" sz="2400" dirty="0"/>
              <a:t> to generate dynamic and interactive bar charts, line graphs, scatter plots, and heatmaps.</a:t>
            </a:r>
          </a:p>
          <a:p>
            <a:pPr algn="just"/>
            <a:r>
              <a:rPr lang="en-US" sz="2400" b="1" dirty="0"/>
              <a:t>Custom Dashboards</a:t>
            </a:r>
            <a:r>
              <a:rPr lang="en-US" sz="2400" dirty="0"/>
              <a:t>: Allows users to filter, zoom, and highlight specific data ranges for deeper exploration.</a:t>
            </a:r>
          </a:p>
          <a:p>
            <a:pPr marL="0" indent="0" algn="just">
              <a:buNone/>
            </a:pPr>
            <a:r>
              <a:rPr lang="en-US" b="1" dirty="0"/>
              <a:t>5. Natural Language Query &amp; Explainable AI</a:t>
            </a:r>
          </a:p>
          <a:p>
            <a:pPr algn="just"/>
            <a:r>
              <a:rPr lang="en-US" sz="2400" b="1" dirty="0"/>
              <a:t>Local LLM Integration</a:t>
            </a:r>
            <a:r>
              <a:rPr lang="en-US" sz="2400" dirty="0"/>
              <a:t>: Enables question-answering using locally hosted models (e.g., </a:t>
            </a:r>
            <a:r>
              <a:rPr lang="en-US" sz="2400" dirty="0" err="1"/>
              <a:t>LLaMA</a:t>
            </a:r>
            <a:r>
              <a:rPr lang="en-US" sz="2400" dirty="0"/>
              <a:t> 3 via </a:t>
            </a:r>
            <a:r>
              <a:rPr lang="en-US" sz="2400" dirty="0" err="1"/>
              <a:t>Ollama</a:t>
            </a:r>
            <a:r>
              <a:rPr lang="en-US" sz="2400" dirty="0"/>
              <a:t>) without internet dependency.</a:t>
            </a:r>
          </a:p>
          <a:p>
            <a:pPr algn="just"/>
            <a:r>
              <a:rPr lang="en-US" sz="2400" b="1" dirty="0"/>
              <a:t>Explainable Responses</a:t>
            </a:r>
            <a:r>
              <a:rPr lang="en-US" sz="2400" dirty="0"/>
              <a:t>: Provides step-by-step reasoning and visual evidence for each answer, improving transparency.</a:t>
            </a:r>
          </a:p>
        </p:txBody>
      </p:sp>
    </p:spTree>
    <p:extLst>
      <p:ext uri="{BB962C8B-B14F-4D97-AF65-F5344CB8AC3E}">
        <p14:creationId xmlns:p14="http://schemas.microsoft.com/office/powerpoint/2010/main" val="3735872774"/>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6F9C9-C805-4E31-D986-D18EBD5AF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0A15C-2B5A-2C7B-D1EF-6B5ABF756E2E}"/>
              </a:ext>
            </a:extLst>
          </p:cNvPr>
          <p:cNvSpPr>
            <a:spLocks noGrp="1"/>
          </p:cNvSpPr>
          <p:nvPr>
            <p:ph type="title"/>
          </p:nvPr>
        </p:nvSpPr>
        <p:spPr/>
        <p:txBody>
          <a:bodyPr/>
          <a:lstStyle/>
          <a:p>
            <a:pPr algn="just"/>
            <a:r>
              <a:rPr lang="en-IN" sz="5000" b="1" dirty="0"/>
              <a:t>Methodology</a:t>
            </a:r>
          </a:p>
        </p:txBody>
      </p:sp>
      <p:sp>
        <p:nvSpPr>
          <p:cNvPr id="3" name="Content Placeholder 2">
            <a:extLst>
              <a:ext uri="{FF2B5EF4-FFF2-40B4-BE49-F238E27FC236}">
                <a16:creationId xmlns:a16="http://schemas.microsoft.com/office/drawing/2014/main" id="{58F0D91A-E80E-9312-60BD-22E41203C51B}"/>
              </a:ext>
            </a:extLst>
          </p:cNvPr>
          <p:cNvSpPr>
            <a:spLocks noGrp="1"/>
          </p:cNvSpPr>
          <p:nvPr>
            <p:ph idx="1"/>
          </p:nvPr>
        </p:nvSpPr>
        <p:spPr/>
        <p:txBody>
          <a:bodyPr>
            <a:normAutofit fontScale="92500" lnSpcReduction="10000"/>
          </a:bodyPr>
          <a:lstStyle/>
          <a:p>
            <a:pPr marL="0" indent="0" algn="just">
              <a:buNone/>
            </a:pPr>
            <a:r>
              <a:rPr lang="en-US" sz="3000" b="1" dirty="0"/>
              <a:t>6. User Interaction and Adaptation</a:t>
            </a:r>
          </a:p>
          <a:p>
            <a:pPr algn="just"/>
            <a:r>
              <a:rPr lang="en-US" sz="2600" b="1" dirty="0"/>
              <a:t>Context-Aware Responses</a:t>
            </a:r>
            <a:r>
              <a:rPr lang="en-US" sz="2600" dirty="0"/>
              <a:t>: Adapts to the user’s query style and domain-specific terminology.</a:t>
            </a:r>
          </a:p>
          <a:p>
            <a:pPr algn="just"/>
            <a:r>
              <a:rPr lang="en-US" sz="2600" b="1" dirty="0"/>
              <a:t>Periodic Updates</a:t>
            </a:r>
            <a:r>
              <a:rPr lang="en-US" sz="2600" dirty="0"/>
              <a:t>: Maintains relevance by refreshing insights whenever new datasets are added.</a:t>
            </a:r>
          </a:p>
          <a:p>
            <a:pPr marL="0" indent="0" algn="just">
              <a:buNone/>
            </a:pPr>
            <a:r>
              <a:rPr lang="en-US" sz="3000" b="1" dirty="0"/>
              <a:t>7. Deployment and Security</a:t>
            </a:r>
          </a:p>
          <a:p>
            <a:pPr algn="just"/>
            <a:r>
              <a:rPr lang="en-US" sz="2600" b="1" dirty="0"/>
              <a:t>Offline-first Architecture</a:t>
            </a:r>
            <a:r>
              <a:rPr lang="en-US" sz="2600" dirty="0"/>
              <a:t>: Designed for environments with limited or no internet access.</a:t>
            </a:r>
          </a:p>
          <a:p>
            <a:pPr algn="just"/>
            <a:r>
              <a:rPr lang="en-US" sz="2600" b="1" dirty="0"/>
              <a:t>Data Privacy</a:t>
            </a:r>
            <a:r>
              <a:rPr lang="en-US" sz="2600" dirty="0"/>
              <a:t>: All processing is performed locally to safeguard sensitive data.</a:t>
            </a:r>
          </a:p>
          <a:p>
            <a:pPr algn="just"/>
            <a:r>
              <a:rPr lang="en-US" sz="2600" b="1" dirty="0"/>
              <a:t>Scalable Backend</a:t>
            </a:r>
            <a:r>
              <a:rPr lang="en-US" sz="2600" dirty="0"/>
              <a:t>: </a:t>
            </a:r>
            <a:r>
              <a:rPr lang="en-US" sz="2600" dirty="0" err="1"/>
              <a:t>FastAPI</a:t>
            </a:r>
            <a:r>
              <a:rPr lang="en-US" sz="2600" dirty="0"/>
              <a:t> serves as the API layer, ensuring efficient data handling and visualization delivery.</a:t>
            </a:r>
          </a:p>
          <a:p>
            <a:pPr algn="just"/>
            <a:endParaRPr lang="en-US" dirty="0"/>
          </a:p>
          <a:p>
            <a:pPr marL="0" indent="0" algn="just">
              <a:buNone/>
            </a:pPr>
            <a:endParaRPr lang="en-IN" dirty="0"/>
          </a:p>
        </p:txBody>
      </p:sp>
    </p:spTree>
    <p:extLst>
      <p:ext uri="{BB962C8B-B14F-4D97-AF65-F5344CB8AC3E}">
        <p14:creationId xmlns:p14="http://schemas.microsoft.com/office/powerpoint/2010/main" val="2256352595"/>
      </p:ext>
    </p:extLst>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5087F0-BA33-291E-B88F-E6B0D6195BE9}"/>
              </a:ext>
            </a:extLst>
          </p:cNvPr>
          <p:cNvSpPr txBox="1">
            <a:spLocks/>
          </p:cNvSpPr>
          <p:nvPr/>
        </p:nvSpPr>
        <p:spPr bwMode="auto">
          <a:xfrm>
            <a:off x="783256" y="1843505"/>
            <a:ext cx="10625488" cy="38914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a:lstStyle>
          <a:p>
            <a:r>
              <a:rPr lang="en-US" sz="6000"/>
              <a:t>             </a:t>
            </a:r>
            <a:r>
              <a:rPr lang="en-US" sz="9600"/>
              <a:t>THANK YOU</a:t>
            </a:r>
            <a:br>
              <a:rPr lang="en-US" sz="9600"/>
            </a:br>
            <a:r>
              <a:rPr lang="en-US" sz="9600"/>
              <a:t>      </a:t>
            </a:r>
            <a:endParaRPr lang="en-IN" sz="9600" dirty="0"/>
          </a:p>
        </p:txBody>
      </p:sp>
    </p:spTree>
    <p:extLst>
      <p:ext uri="{BB962C8B-B14F-4D97-AF65-F5344CB8AC3E}">
        <p14:creationId xmlns:p14="http://schemas.microsoft.com/office/powerpoint/2010/main" val="1176563023"/>
      </p:ext>
    </p:extLst>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764</TotalTime>
  <Words>1743</Words>
  <Application>Microsoft Office PowerPoint</Application>
  <PresentationFormat>Widescreen</PresentationFormat>
  <Paragraphs>166</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Calisto MT</vt:lpstr>
      <vt:lpstr>Times New Roman</vt:lpstr>
      <vt:lpstr>Office Theme</vt:lpstr>
      <vt:lpstr>PowerPoint Presentation</vt:lpstr>
      <vt:lpstr> Major Project Review I - Contents </vt:lpstr>
      <vt:lpstr>Abstract</vt:lpstr>
      <vt:lpstr>Introduction</vt:lpstr>
      <vt:lpstr>Literature Survey</vt:lpstr>
      <vt:lpstr>Problem Statement in Existing System</vt:lpstr>
      <vt:lpstr>Proposed System</vt:lpstr>
      <vt:lpstr>Objectives</vt:lpstr>
      <vt:lpstr>Objectives</vt:lpstr>
      <vt:lpstr>   Project Domain</vt:lpstr>
      <vt:lpstr>Requirement Analysis</vt:lpstr>
      <vt:lpstr>Requirement Analysis</vt:lpstr>
      <vt:lpstr>Requirement Analysis</vt:lpstr>
      <vt:lpstr>Requirement Analysis</vt:lpstr>
      <vt:lpstr>System Architecture</vt:lpstr>
      <vt:lpstr>Methodology</vt:lpstr>
      <vt:lpstr>Methodology</vt:lpstr>
      <vt:lpstr>Methodology</vt:lpstr>
      <vt:lpstr>Methodology</vt:lpstr>
      <vt:lpstr>Methodology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dc:title>
  <dc:creator>CAIML</dc:creator>
  <cp:lastModifiedBy>J S T Vamsi Krishna</cp:lastModifiedBy>
  <cp:revision>99</cp:revision>
  <dcterms:created xsi:type="dcterms:W3CDTF">2021-05-22T09:16:38Z</dcterms:created>
  <dcterms:modified xsi:type="dcterms:W3CDTF">2025-08-18T07:03:04Z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2021-07-02T18:27:27Z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a45faa05-55e5-4ac1-8791-579d4098f2cd</vt:lpwstr>
  </property>
  <property fmtid="{D5CDD505-2E9C-101B-9397-08002B2CF9AE}" pid="8" name="MSIP_Label_ea60d57e-af5b-4752-ac57-3e4f28ca11dc_ContentBits">
    <vt:lpwstr>0</vt:lpwstr>
  </property>
</Properties>
</file>